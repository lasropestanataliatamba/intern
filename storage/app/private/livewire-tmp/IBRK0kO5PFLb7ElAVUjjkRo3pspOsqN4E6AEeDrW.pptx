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League Spartan" charset="1" panose="00000800000000000000"/>
      <p:regular r:id="rId21"/>
    </p:embeddedFont>
    <p:embeddedFont>
      <p:font typeface="Roboto Bold" charset="1" panose="02000000000000000000"/>
      <p:regular r:id="rId22"/>
    </p:embeddedFont>
    <p:embeddedFont>
      <p:font typeface="Roboto" charset="1" panose="02000000000000000000"/>
      <p:regular r:id="rId23"/>
    </p:embeddedFont>
    <p:embeddedFont>
      <p:font typeface="Poppins" charset="1" panose="00000500000000000000"/>
      <p:regular r:id="rId24"/>
    </p:embeddedFont>
    <p:embeddedFont>
      <p:font typeface="Poppins Bold" charset="1" panose="000008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jpe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2.png" Type="http://schemas.openxmlformats.org/officeDocument/2006/relationships/image"/><Relationship Id="rId4"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30300" y="4057750"/>
            <a:ext cx="3086100" cy="2171499"/>
            <a:chOff x="0" y="0"/>
            <a:chExt cx="812800" cy="571917"/>
          </a:xfrm>
        </p:grpSpPr>
        <p:sp>
          <p:nvSpPr>
            <p:cNvPr name="Freeform 4" id="4"/>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5" id="5"/>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6467343" y="4057750"/>
            <a:ext cx="3086100" cy="2171499"/>
            <a:chOff x="0" y="0"/>
            <a:chExt cx="812800" cy="571917"/>
          </a:xfrm>
        </p:grpSpPr>
        <p:sp>
          <p:nvSpPr>
            <p:cNvPr name="Freeform 7" id="7"/>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8" id="8"/>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583390" y="587858"/>
            <a:ext cx="4879662" cy="881683"/>
          </a:xfrm>
          <a:custGeom>
            <a:avLst/>
            <a:gdLst/>
            <a:ahLst/>
            <a:cxnLst/>
            <a:rect r="r" b="b" t="t" l="l"/>
            <a:pathLst>
              <a:path h="881683" w="4879662">
                <a:moveTo>
                  <a:pt x="0" y="0"/>
                </a:moveTo>
                <a:lnTo>
                  <a:pt x="4879662" y="0"/>
                </a:lnTo>
                <a:lnTo>
                  <a:pt x="4879662" y="881684"/>
                </a:lnTo>
                <a:lnTo>
                  <a:pt x="0" y="881684"/>
                </a:lnTo>
                <a:lnTo>
                  <a:pt x="0" y="0"/>
                </a:lnTo>
                <a:close/>
              </a:path>
            </a:pathLst>
          </a:custGeom>
          <a:blipFill>
            <a:blip r:embed="rId3"/>
            <a:stretch>
              <a:fillRect l="0" t="0" r="0" b="0"/>
            </a:stretch>
          </a:blipFill>
        </p:spPr>
      </p:sp>
      <p:sp>
        <p:nvSpPr>
          <p:cNvPr name="TextBox 10" id="10"/>
          <p:cNvSpPr txBox="true"/>
          <p:nvPr/>
        </p:nvSpPr>
        <p:spPr>
          <a:xfrm rot="0">
            <a:off x="2562241" y="3478131"/>
            <a:ext cx="13163518" cy="3245012"/>
          </a:xfrm>
          <a:prstGeom prst="rect">
            <a:avLst/>
          </a:prstGeom>
        </p:spPr>
        <p:txBody>
          <a:bodyPr anchor="t" rtlCol="false" tIns="0" lIns="0" bIns="0" rIns="0">
            <a:spAutoFit/>
          </a:bodyPr>
          <a:lstStyle/>
          <a:p>
            <a:pPr algn="ctr">
              <a:lnSpc>
                <a:spcPts val="6462"/>
              </a:lnSpc>
            </a:pPr>
            <a:r>
              <a:rPr lang="en-US" b="true" sz="4615" spc="64">
                <a:solidFill>
                  <a:srgbClr val="004AAD"/>
                </a:solidFill>
                <a:latin typeface="League Spartan"/>
                <a:ea typeface="League Spartan"/>
                <a:cs typeface="League Spartan"/>
                <a:sym typeface="League Spartan"/>
              </a:rPr>
              <a:t>PENERAPAN ALGORITMA EFFICIENTNETV2 UNTUK KLASIFIKASI </a:t>
            </a:r>
          </a:p>
          <a:p>
            <a:pPr algn="ctr">
              <a:lnSpc>
                <a:spcPts val="6462"/>
              </a:lnSpc>
            </a:pPr>
            <a:r>
              <a:rPr lang="en-US" b="true" sz="4615" spc="64">
                <a:solidFill>
                  <a:srgbClr val="004AAD"/>
                </a:solidFill>
                <a:latin typeface="League Spartan"/>
                <a:ea typeface="League Spartan"/>
                <a:cs typeface="League Spartan"/>
                <a:sym typeface="League Spartan"/>
              </a:rPr>
              <a:t>PENYAKIT DAUN PADI (ORIZA SATIVA L) PADA APLIKASI MOBILE</a:t>
            </a:r>
          </a:p>
        </p:txBody>
      </p:sp>
      <p:sp>
        <p:nvSpPr>
          <p:cNvPr name="TextBox 11" id="11"/>
          <p:cNvSpPr txBox="true"/>
          <p:nvPr/>
        </p:nvSpPr>
        <p:spPr>
          <a:xfrm rot="0">
            <a:off x="5873863" y="2054734"/>
            <a:ext cx="6540273" cy="636804"/>
          </a:xfrm>
          <a:prstGeom prst="rect">
            <a:avLst/>
          </a:prstGeom>
        </p:spPr>
        <p:txBody>
          <a:bodyPr anchor="t" rtlCol="false" tIns="0" lIns="0" bIns="0" rIns="0">
            <a:spAutoFit/>
          </a:bodyPr>
          <a:lstStyle/>
          <a:p>
            <a:pPr algn="ctr">
              <a:lnSpc>
                <a:spcPts val="5122"/>
              </a:lnSpc>
            </a:pPr>
            <a:r>
              <a:rPr lang="en-US" b="true" sz="3658">
                <a:solidFill>
                  <a:srgbClr val="303642"/>
                </a:solidFill>
                <a:latin typeface="Roboto Bold"/>
                <a:ea typeface="Roboto Bold"/>
                <a:cs typeface="Roboto Bold"/>
                <a:sym typeface="Roboto Bold"/>
              </a:rPr>
              <a:t>TA D3TI 2025/2026 - 18</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a:grpSpLocks noChangeAspect="true"/>
          </p:cNvGrpSpPr>
          <p:nvPr/>
        </p:nvGrpSpPr>
        <p:grpSpPr>
          <a:xfrm rot="0">
            <a:off x="2336296" y="4065560"/>
            <a:ext cx="2960881" cy="2960544"/>
            <a:chOff x="0" y="0"/>
            <a:chExt cx="6350013" cy="6349289"/>
          </a:xfrm>
        </p:grpSpPr>
        <p:sp>
          <p:nvSpPr>
            <p:cNvPr name="Freeform 4" id="4"/>
            <p:cNvSpPr/>
            <p:nvPr/>
          </p:nvSpPr>
          <p:spPr>
            <a:xfrm flipH="false" flipV="false" rot="0">
              <a:off x="-2" y="-1"/>
              <a:ext cx="6350000" cy="6349290"/>
            </a:xfrm>
            <a:custGeom>
              <a:avLst/>
              <a:gdLst/>
              <a:ahLst/>
              <a:cxnLst/>
              <a:rect r="r" b="b" t="t" l="l"/>
              <a:pathLst>
                <a:path h="6349290" w="6350000">
                  <a:moveTo>
                    <a:pt x="5589297" y="1006730"/>
                  </a:moveTo>
                  <a:cubicBezTo>
                    <a:pt x="5465116" y="791694"/>
                    <a:pt x="5239933" y="671386"/>
                    <a:pt x="5008285" y="671221"/>
                  </a:cubicBezTo>
                  <a:lnTo>
                    <a:pt x="5008323" y="671183"/>
                  </a:lnTo>
                  <a:cubicBezTo>
                    <a:pt x="4776675" y="670980"/>
                    <a:pt x="4551453" y="550686"/>
                    <a:pt x="4427311" y="335675"/>
                  </a:cubicBezTo>
                  <a:cubicBezTo>
                    <a:pt x="4242069" y="14784"/>
                    <a:pt x="3831782" y="-95135"/>
                    <a:pt x="3510892" y="90146"/>
                  </a:cubicBezTo>
                  <a:lnTo>
                    <a:pt x="3510841" y="90184"/>
                  </a:lnTo>
                  <a:lnTo>
                    <a:pt x="3510841" y="89980"/>
                  </a:lnTo>
                  <a:cubicBezTo>
                    <a:pt x="3311540" y="204801"/>
                    <a:pt x="3058606" y="213894"/>
                    <a:pt x="2844523" y="92495"/>
                  </a:cubicBezTo>
                  <a:cubicBezTo>
                    <a:pt x="2741495" y="31767"/>
                    <a:pt x="2624048" y="-177"/>
                    <a:pt x="2504455" y="1"/>
                  </a:cubicBezTo>
                  <a:cubicBezTo>
                    <a:pt x="2256157" y="1"/>
                    <a:pt x="2039393" y="134913"/>
                    <a:pt x="1923366" y="335433"/>
                  </a:cubicBezTo>
                  <a:lnTo>
                    <a:pt x="1923366" y="335395"/>
                  </a:lnTo>
                  <a:cubicBezTo>
                    <a:pt x="1807377" y="535877"/>
                    <a:pt x="1590563" y="670790"/>
                    <a:pt x="1342303" y="670790"/>
                  </a:cubicBezTo>
                  <a:cubicBezTo>
                    <a:pt x="971781" y="670790"/>
                    <a:pt x="671438" y="971132"/>
                    <a:pt x="671438" y="1341654"/>
                  </a:cubicBezTo>
                  <a:lnTo>
                    <a:pt x="671438" y="1341731"/>
                  </a:lnTo>
                  <a:lnTo>
                    <a:pt x="671235" y="1341654"/>
                  </a:lnTo>
                  <a:cubicBezTo>
                    <a:pt x="671032" y="1571537"/>
                    <a:pt x="552554" y="1795019"/>
                    <a:pt x="340654" y="1919771"/>
                  </a:cubicBezTo>
                  <a:cubicBezTo>
                    <a:pt x="236398" y="1978609"/>
                    <a:pt x="149886" y="2064406"/>
                    <a:pt x="90185" y="2168170"/>
                  </a:cubicBezTo>
                  <a:cubicBezTo>
                    <a:pt x="-33971" y="2383232"/>
                    <a:pt x="-25525" y="2638388"/>
                    <a:pt x="90147" y="2839111"/>
                  </a:cubicBezTo>
                  <a:lnTo>
                    <a:pt x="90109" y="2839111"/>
                  </a:lnTo>
                  <a:cubicBezTo>
                    <a:pt x="205691" y="3039797"/>
                    <a:pt x="214137" y="3294978"/>
                    <a:pt x="89982" y="3510014"/>
                  </a:cubicBezTo>
                  <a:cubicBezTo>
                    <a:pt x="-95248" y="3830867"/>
                    <a:pt x="14658" y="4241153"/>
                    <a:pt x="335549" y="4426434"/>
                  </a:cubicBezTo>
                  <a:lnTo>
                    <a:pt x="335587" y="4426472"/>
                  </a:lnTo>
                  <a:lnTo>
                    <a:pt x="335460" y="4426560"/>
                  </a:lnTo>
                  <a:cubicBezTo>
                    <a:pt x="535980" y="4542499"/>
                    <a:pt x="670829" y="4759313"/>
                    <a:pt x="670829" y="5007611"/>
                  </a:cubicBezTo>
                  <a:cubicBezTo>
                    <a:pt x="670829" y="5378133"/>
                    <a:pt x="971171" y="5678476"/>
                    <a:pt x="1341681" y="5678476"/>
                  </a:cubicBezTo>
                  <a:cubicBezTo>
                    <a:pt x="1589991" y="5678476"/>
                    <a:pt x="1806717" y="5813362"/>
                    <a:pt x="1922782" y="6013883"/>
                  </a:cubicBezTo>
                  <a:cubicBezTo>
                    <a:pt x="2038771" y="6214314"/>
                    <a:pt x="2255573" y="6349290"/>
                    <a:pt x="2503845" y="6349290"/>
                  </a:cubicBezTo>
                  <a:cubicBezTo>
                    <a:pt x="2623437" y="6349444"/>
                    <a:pt x="2740879" y="6317498"/>
                    <a:pt x="2843913" y="6256783"/>
                  </a:cubicBezTo>
                  <a:cubicBezTo>
                    <a:pt x="3057946" y="6135409"/>
                    <a:pt x="3310943" y="6144502"/>
                    <a:pt x="3510231" y="6259361"/>
                  </a:cubicBezTo>
                  <a:lnTo>
                    <a:pt x="3510231" y="6259120"/>
                  </a:lnTo>
                  <a:lnTo>
                    <a:pt x="3510269" y="6259196"/>
                  </a:lnTo>
                  <a:cubicBezTo>
                    <a:pt x="3831160" y="6444438"/>
                    <a:pt x="4241446" y="6334482"/>
                    <a:pt x="4426739" y="6013629"/>
                  </a:cubicBezTo>
                  <a:cubicBezTo>
                    <a:pt x="4550882" y="5798631"/>
                    <a:pt x="4776066" y="5678311"/>
                    <a:pt x="5007713" y="5678146"/>
                  </a:cubicBezTo>
                  <a:lnTo>
                    <a:pt x="5007663" y="5678057"/>
                  </a:lnTo>
                  <a:cubicBezTo>
                    <a:pt x="5239310" y="5677892"/>
                    <a:pt x="5464532" y="5557572"/>
                    <a:pt x="5588637" y="5342574"/>
                  </a:cubicBezTo>
                  <a:cubicBezTo>
                    <a:pt x="5649762" y="5236720"/>
                    <a:pt x="5678769" y="5121099"/>
                    <a:pt x="5678642" y="5007078"/>
                  </a:cubicBezTo>
                  <a:lnTo>
                    <a:pt x="5678731" y="5007155"/>
                  </a:lnTo>
                  <a:cubicBezTo>
                    <a:pt x="5678934" y="4783711"/>
                    <a:pt x="5790897" y="4566223"/>
                    <a:pt x="5991811" y="4439693"/>
                  </a:cubicBezTo>
                  <a:cubicBezTo>
                    <a:pt x="6100116" y="4382746"/>
                    <a:pt x="6194109" y="4295485"/>
                    <a:pt x="6259781" y="4181731"/>
                  </a:cubicBezTo>
                  <a:cubicBezTo>
                    <a:pt x="6383974" y="3966618"/>
                    <a:pt x="6375529" y="3711437"/>
                    <a:pt x="6259870" y="3510751"/>
                  </a:cubicBezTo>
                  <a:lnTo>
                    <a:pt x="6259908" y="3510751"/>
                  </a:lnTo>
                  <a:cubicBezTo>
                    <a:pt x="6144287" y="3310066"/>
                    <a:pt x="6135829" y="3054885"/>
                    <a:pt x="6259997" y="2839836"/>
                  </a:cubicBezTo>
                  <a:cubicBezTo>
                    <a:pt x="6445277" y="2518945"/>
                    <a:pt x="6335320" y="2108697"/>
                    <a:pt x="6014429" y="1923417"/>
                  </a:cubicBezTo>
                  <a:lnTo>
                    <a:pt x="6014379" y="1923366"/>
                  </a:lnTo>
                  <a:lnTo>
                    <a:pt x="6014506" y="1923328"/>
                  </a:lnTo>
                  <a:cubicBezTo>
                    <a:pt x="5815599" y="1808240"/>
                    <a:pt x="5681309" y="1593953"/>
                    <a:pt x="5679188" y="1348132"/>
                  </a:cubicBezTo>
                  <a:cubicBezTo>
                    <a:pt x="5680356" y="1232130"/>
                    <a:pt x="5651438" y="1114401"/>
                    <a:pt x="5589297" y="1006730"/>
                  </a:cubicBezTo>
                </a:path>
              </a:pathLst>
            </a:custGeom>
            <a:blipFill>
              <a:blip r:embed="rId3"/>
              <a:stretch>
                <a:fillRect l="0" t="-19381" r="0" b="-30908"/>
              </a:stretch>
            </a:blipFill>
          </p:spPr>
        </p:sp>
      </p:grpSp>
      <p:grpSp>
        <p:nvGrpSpPr>
          <p:cNvPr name="Group 5" id="5"/>
          <p:cNvGrpSpPr>
            <a:grpSpLocks noChangeAspect="true"/>
          </p:cNvGrpSpPr>
          <p:nvPr/>
        </p:nvGrpSpPr>
        <p:grpSpPr>
          <a:xfrm rot="0">
            <a:off x="7575089" y="4065560"/>
            <a:ext cx="2960881" cy="2960544"/>
            <a:chOff x="0" y="0"/>
            <a:chExt cx="6350013" cy="6349289"/>
          </a:xfrm>
        </p:grpSpPr>
        <p:sp>
          <p:nvSpPr>
            <p:cNvPr name="Freeform 6" id="6"/>
            <p:cNvSpPr/>
            <p:nvPr/>
          </p:nvSpPr>
          <p:spPr>
            <a:xfrm flipH="false" flipV="false" rot="0">
              <a:off x="-2" y="-1"/>
              <a:ext cx="6350000" cy="6349290"/>
            </a:xfrm>
            <a:custGeom>
              <a:avLst/>
              <a:gdLst/>
              <a:ahLst/>
              <a:cxnLst/>
              <a:rect r="r" b="b" t="t" l="l"/>
              <a:pathLst>
                <a:path h="6349290" w="6350000">
                  <a:moveTo>
                    <a:pt x="5589297" y="1006730"/>
                  </a:moveTo>
                  <a:cubicBezTo>
                    <a:pt x="5465116" y="791694"/>
                    <a:pt x="5239933" y="671386"/>
                    <a:pt x="5008285" y="671221"/>
                  </a:cubicBezTo>
                  <a:lnTo>
                    <a:pt x="5008323" y="671183"/>
                  </a:lnTo>
                  <a:cubicBezTo>
                    <a:pt x="4776675" y="670980"/>
                    <a:pt x="4551453" y="550686"/>
                    <a:pt x="4427311" y="335675"/>
                  </a:cubicBezTo>
                  <a:cubicBezTo>
                    <a:pt x="4242069" y="14784"/>
                    <a:pt x="3831782" y="-95135"/>
                    <a:pt x="3510892" y="90146"/>
                  </a:cubicBezTo>
                  <a:lnTo>
                    <a:pt x="3510841" y="90184"/>
                  </a:lnTo>
                  <a:lnTo>
                    <a:pt x="3510841" y="89980"/>
                  </a:lnTo>
                  <a:cubicBezTo>
                    <a:pt x="3311540" y="204801"/>
                    <a:pt x="3058606" y="213894"/>
                    <a:pt x="2844523" y="92495"/>
                  </a:cubicBezTo>
                  <a:cubicBezTo>
                    <a:pt x="2741495" y="31767"/>
                    <a:pt x="2624048" y="-177"/>
                    <a:pt x="2504455" y="1"/>
                  </a:cubicBezTo>
                  <a:cubicBezTo>
                    <a:pt x="2256157" y="1"/>
                    <a:pt x="2039393" y="134913"/>
                    <a:pt x="1923366" y="335433"/>
                  </a:cubicBezTo>
                  <a:lnTo>
                    <a:pt x="1923366" y="335395"/>
                  </a:lnTo>
                  <a:cubicBezTo>
                    <a:pt x="1807377" y="535877"/>
                    <a:pt x="1590563" y="670790"/>
                    <a:pt x="1342303" y="670790"/>
                  </a:cubicBezTo>
                  <a:cubicBezTo>
                    <a:pt x="971781" y="670790"/>
                    <a:pt x="671438" y="971132"/>
                    <a:pt x="671438" y="1341654"/>
                  </a:cubicBezTo>
                  <a:lnTo>
                    <a:pt x="671438" y="1341731"/>
                  </a:lnTo>
                  <a:lnTo>
                    <a:pt x="671235" y="1341654"/>
                  </a:lnTo>
                  <a:cubicBezTo>
                    <a:pt x="671032" y="1571537"/>
                    <a:pt x="552554" y="1795019"/>
                    <a:pt x="340654" y="1919771"/>
                  </a:cubicBezTo>
                  <a:cubicBezTo>
                    <a:pt x="236398" y="1978609"/>
                    <a:pt x="149886" y="2064406"/>
                    <a:pt x="90185" y="2168170"/>
                  </a:cubicBezTo>
                  <a:cubicBezTo>
                    <a:pt x="-33971" y="2383232"/>
                    <a:pt x="-25525" y="2638388"/>
                    <a:pt x="90147" y="2839111"/>
                  </a:cubicBezTo>
                  <a:lnTo>
                    <a:pt x="90109" y="2839111"/>
                  </a:lnTo>
                  <a:cubicBezTo>
                    <a:pt x="205691" y="3039797"/>
                    <a:pt x="214137" y="3294978"/>
                    <a:pt x="89982" y="3510014"/>
                  </a:cubicBezTo>
                  <a:cubicBezTo>
                    <a:pt x="-95248" y="3830867"/>
                    <a:pt x="14658" y="4241153"/>
                    <a:pt x="335549" y="4426434"/>
                  </a:cubicBezTo>
                  <a:lnTo>
                    <a:pt x="335587" y="4426472"/>
                  </a:lnTo>
                  <a:lnTo>
                    <a:pt x="335460" y="4426560"/>
                  </a:lnTo>
                  <a:cubicBezTo>
                    <a:pt x="535980" y="4542499"/>
                    <a:pt x="670829" y="4759313"/>
                    <a:pt x="670829" y="5007611"/>
                  </a:cubicBezTo>
                  <a:cubicBezTo>
                    <a:pt x="670829" y="5378133"/>
                    <a:pt x="971171" y="5678476"/>
                    <a:pt x="1341681" y="5678476"/>
                  </a:cubicBezTo>
                  <a:cubicBezTo>
                    <a:pt x="1589991" y="5678476"/>
                    <a:pt x="1806717" y="5813362"/>
                    <a:pt x="1922782" y="6013883"/>
                  </a:cubicBezTo>
                  <a:cubicBezTo>
                    <a:pt x="2038771" y="6214314"/>
                    <a:pt x="2255573" y="6349290"/>
                    <a:pt x="2503845" y="6349290"/>
                  </a:cubicBezTo>
                  <a:cubicBezTo>
                    <a:pt x="2623437" y="6349444"/>
                    <a:pt x="2740879" y="6317498"/>
                    <a:pt x="2843913" y="6256783"/>
                  </a:cubicBezTo>
                  <a:cubicBezTo>
                    <a:pt x="3057946" y="6135409"/>
                    <a:pt x="3310943" y="6144502"/>
                    <a:pt x="3510231" y="6259361"/>
                  </a:cubicBezTo>
                  <a:lnTo>
                    <a:pt x="3510231" y="6259120"/>
                  </a:lnTo>
                  <a:lnTo>
                    <a:pt x="3510269" y="6259196"/>
                  </a:lnTo>
                  <a:cubicBezTo>
                    <a:pt x="3831160" y="6444438"/>
                    <a:pt x="4241446" y="6334482"/>
                    <a:pt x="4426739" y="6013629"/>
                  </a:cubicBezTo>
                  <a:cubicBezTo>
                    <a:pt x="4550882" y="5798631"/>
                    <a:pt x="4776066" y="5678311"/>
                    <a:pt x="5007713" y="5678146"/>
                  </a:cubicBezTo>
                  <a:lnTo>
                    <a:pt x="5007663" y="5678057"/>
                  </a:lnTo>
                  <a:cubicBezTo>
                    <a:pt x="5239310" y="5677892"/>
                    <a:pt x="5464532" y="5557572"/>
                    <a:pt x="5588637" y="5342574"/>
                  </a:cubicBezTo>
                  <a:cubicBezTo>
                    <a:pt x="5649762" y="5236720"/>
                    <a:pt x="5678769" y="5121099"/>
                    <a:pt x="5678642" y="5007078"/>
                  </a:cubicBezTo>
                  <a:lnTo>
                    <a:pt x="5678731" y="5007155"/>
                  </a:lnTo>
                  <a:cubicBezTo>
                    <a:pt x="5678934" y="4783711"/>
                    <a:pt x="5790897" y="4566223"/>
                    <a:pt x="5991811" y="4439693"/>
                  </a:cubicBezTo>
                  <a:cubicBezTo>
                    <a:pt x="6100116" y="4382746"/>
                    <a:pt x="6194109" y="4295485"/>
                    <a:pt x="6259781" y="4181731"/>
                  </a:cubicBezTo>
                  <a:cubicBezTo>
                    <a:pt x="6383974" y="3966618"/>
                    <a:pt x="6375529" y="3711437"/>
                    <a:pt x="6259870" y="3510751"/>
                  </a:cubicBezTo>
                  <a:lnTo>
                    <a:pt x="6259908" y="3510751"/>
                  </a:lnTo>
                  <a:cubicBezTo>
                    <a:pt x="6144287" y="3310066"/>
                    <a:pt x="6135829" y="3054885"/>
                    <a:pt x="6259997" y="2839836"/>
                  </a:cubicBezTo>
                  <a:cubicBezTo>
                    <a:pt x="6445277" y="2518945"/>
                    <a:pt x="6335320" y="2108697"/>
                    <a:pt x="6014429" y="1923417"/>
                  </a:cubicBezTo>
                  <a:lnTo>
                    <a:pt x="6014379" y="1923366"/>
                  </a:lnTo>
                  <a:lnTo>
                    <a:pt x="6014506" y="1923328"/>
                  </a:lnTo>
                  <a:cubicBezTo>
                    <a:pt x="5815599" y="1808240"/>
                    <a:pt x="5681309" y="1593953"/>
                    <a:pt x="5679188" y="1348132"/>
                  </a:cubicBezTo>
                  <a:cubicBezTo>
                    <a:pt x="5680356" y="1232130"/>
                    <a:pt x="5651438" y="1114401"/>
                    <a:pt x="5589297" y="1006730"/>
                  </a:cubicBezTo>
                </a:path>
              </a:pathLst>
            </a:custGeom>
            <a:blipFill>
              <a:blip r:embed="rId4"/>
              <a:stretch>
                <a:fillRect l="0" t="-8023" r="0" b="-8023"/>
              </a:stretch>
            </a:blipFill>
          </p:spPr>
        </p:sp>
      </p:grpSp>
      <p:grpSp>
        <p:nvGrpSpPr>
          <p:cNvPr name="Group 7" id="7"/>
          <p:cNvGrpSpPr>
            <a:grpSpLocks noChangeAspect="true"/>
          </p:cNvGrpSpPr>
          <p:nvPr/>
        </p:nvGrpSpPr>
        <p:grpSpPr>
          <a:xfrm rot="0">
            <a:off x="12812445" y="4065560"/>
            <a:ext cx="2960881" cy="2960544"/>
            <a:chOff x="0" y="0"/>
            <a:chExt cx="6350013" cy="6349289"/>
          </a:xfrm>
        </p:grpSpPr>
        <p:sp>
          <p:nvSpPr>
            <p:cNvPr name="Freeform 8" id="8"/>
            <p:cNvSpPr/>
            <p:nvPr/>
          </p:nvSpPr>
          <p:spPr>
            <a:xfrm flipH="false" flipV="false" rot="0">
              <a:off x="-2" y="-1"/>
              <a:ext cx="6350000" cy="6349290"/>
            </a:xfrm>
            <a:custGeom>
              <a:avLst/>
              <a:gdLst/>
              <a:ahLst/>
              <a:cxnLst/>
              <a:rect r="r" b="b" t="t" l="l"/>
              <a:pathLst>
                <a:path h="6349290" w="6350000">
                  <a:moveTo>
                    <a:pt x="5589297" y="1006730"/>
                  </a:moveTo>
                  <a:cubicBezTo>
                    <a:pt x="5465116" y="791694"/>
                    <a:pt x="5239933" y="671386"/>
                    <a:pt x="5008285" y="671221"/>
                  </a:cubicBezTo>
                  <a:lnTo>
                    <a:pt x="5008323" y="671183"/>
                  </a:lnTo>
                  <a:cubicBezTo>
                    <a:pt x="4776675" y="670980"/>
                    <a:pt x="4551453" y="550686"/>
                    <a:pt x="4427311" y="335675"/>
                  </a:cubicBezTo>
                  <a:cubicBezTo>
                    <a:pt x="4242069" y="14784"/>
                    <a:pt x="3831782" y="-95135"/>
                    <a:pt x="3510892" y="90146"/>
                  </a:cubicBezTo>
                  <a:lnTo>
                    <a:pt x="3510841" y="90184"/>
                  </a:lnTo>
                  <a:lnTo>
                    <a:pt x="3510841" y="89980"/>
                  </a:lnTo>
                  <a:cubicBezTo>
                    <a:pt x="3311540" y="204801"/>
                    <a:pt x="3058606" y="213894"/>
                    <a:pt x="2844523" y="92495"/>
                  </a:cubicBezTo>
                  <a:cubicBezTo>
                    <a:pt x="2741495" y="31767"/>
                    <a:pt x="2624048" y="-177"/>
                    <a:pt x="2504455" y="1"/>
                  </a:cubicBezTo>
                  <a:cubicBezTo>
                    <a:pt x="2256157" y="1"/>
                    <a:pt x="2039393" y="134913"/>
                    <a:pt x="1923366" y="335433"/>
                  </a:cubicBezTo>
                  <a:lnTo>
                    <a:pt x="1923366" y="335395"/>
                  </a:lnTo>
                  <a:cubicBezTo>
                    <a:pt x="1807377" y="535877"/>
                    <a:pt x="1590563" y="670790"/>
                    <a:pt x="1342303" y="670790"/>
                  </a:cubicBezTo>
                  <a:cubicBezTo>
                    <a:pt x="971781" y="670790"/>
                    <a:pt x="671438" y="971132"/>
                    <a:pt x="671438" y="1341654"/>
                  </a:cubicBezTo>
                  <a:lnTo>
                    <a:pt x="671438" y="1341731"/>
                  </a:lnTo>
                  <a:lnTo>
                    <a:pt x="671235" y="1341654"/>
                  </a:lnTo>
                  <a:cubicBezTo>
                    <a:pt x="671032" y="1571537"/>
                    <a:pt x="552554" y="1795019"/>
                    <a:pt x="340654" y="1919771"/>
                  </a:cubicBezTo>
                  <a:cubicBezTo>
                    <a:pt x="236398" y="1978609"/>
                    <a:pt x="149886" y="2064406"/>
                    <a:pt x="90185" y="2168170"/>
                  </a:cubicBezTo>
                  <a:cubicBezTo>
                    <a:pt x="-33971" y="2383232"/>
                    <a:pt x="-25525" y="2638388"/>
                    <a:pt x="90147" y="2839111"/>
                  </a:cubicBezTo>
                  <a:lnTo>
                    <a:pt x="90109" y="2839111"/>
                  </a:lnTo>
                  <a:cubicBezTo>
                    <a:pt x="205691" y="3039797"/>
                    <a:pt x="214137" y="3294978"/>
                    <a:pt x="89982" y="3510014"/>
                  </a:cubicBezTo>
                  <a:cubicBezTo>
                    <a:pt x="-95248" y="3830867"/>
                    <a:pt x="14658" y="4241153"/>
                    <a:pt x="335549" y="4426434"/>
                  </a:cubicBezTo>
                  <a:lnTo>
                    <a:pt x="335587" y="4426472"/>
                  </a:lnTo>
                  <a:lnTo>
                    <a:pt x="335460" y="4426560"/>
                  </a:lnTo>
                  <a:cubicBezTo>
                    <a:pt x="535980" y="4542499"/>
                    <a:pt x="670829" y="4759313"/>
                    <a:pt x="670829" y="5007611"/>
                  </a:cubicBezTo>
                  <a:cubicBezTo>
                    <a:pt x="670829" y="5378133"/>
                    <a:pt x="971171" y="5678476"/>
                    <a:pt x="1341681" y="5678476"/>
                  </a:cubicBezTo>
                  <a:cubicBezTo>
                    <a:pt x="1589991" y="5678476"/>
                    <a:pt x="1806717" y="5813362"/>
                    <a:pt x="1922782" y="6013883"/>
                  </a:cubicBezTo>
                  <a:cubicBezTo>
                    <a:pt x="2038771" y="6214314"/>
                    <a:pt x="2255573" y="6349290"/>
                    <a:pt x="2503845" y="6349290"/>
                  </a:cubicBezTo>
                  <a:cubicBezTo>
                    <a:pt x="2623437" y="6349444"/>
                    <a:pt x="2740879" y="6317498"/>
                    <a:pt x="2843913" y="6256783"/>
                  </a:cubicBezTo>
                  <a:cubicBezTo>
                    <a:pt x="3057946" y="6135409"/>
                    <a:pt x="3310943" y="6144502"/>
                    <a:pt x="3510231" y="6259361"/>
                  </a:cubicBezTo>
                  <a:lnTo>
                    <a:pt x="3510231" y="6259120"/>
                  </a:lnTo>
                  <a:lnTo>
                    <a:pt x="3510269" y="6259196"/>
                  </a:lnTo>
                  <a:cubicBezTo>
                    <a:pt x="3831160" y="6444438"/>
                    <a:pt x="4241446" y="6334482"/>
                    <a:pt x="4426739" y="6013629"/>
                  </a:cubicBezTo>
                  <a:cubicBezTo>
                    <a:pt x="4550882" y="5798631"/>
                    <a:pt x="4776066" y="5678311"/>
                    <a:pt x="5007713" y="5678146"/>
                  </a:cubicBezTo>
                  <a:lnTo>
                    <a:pt x="5007663" y="5678057"/>
                  </a:lnTo>
                  <a:cubicBezTo>
                    <a:pt x="5239310" y="5677892"/>
                    <a:pt x="5464532" y="5557572"/>
                    <a:pt x="5588637" y="5342574"/>
                  </a:cubicBezTo>
                  <a:cubicBezTo>
                    <a:pt x="5649762" y="5236720"/>
                    <a:pt x="5678769" y="5121099"/>
                    <a:pt x="5678642" y="5007078"/>
                  </a:cubicBezTo>
                  <a:lnTo>
                    <a:pt x="5678731" y="5007155"/>
                  </a:lnTo>
                  <a:cubicBezTo>
                    <a:pt x="5678934" y="4783711"/>
                    <a:pt x="5790897" y="4566223"/>
                    <a:pt x="5991811" y="4439693"/>
                  </a:cubicBezTo>
                  <a:cubicBezTo>
                    <a:pt x="6100116" y="4382746"/>
                    <a:pt x="6194109" y="4295485"/>
                    <a:pt x="6259781" y="4181731"/>
                  </a:cubicBezTo>
                  <a:cubicBezTo>
                    <a:pt x="6383974" y="3966618"/>
                    <a:pt x="6375529" y="3711437"/>
                    <a:pt x="6259870" y="3510751"/>
                  </a:cubicBezTo>
                  <a:lnTo>
                    <a:pt x="6259908" y="3510751"/>
                  </a:lnTo>
                  <a:cubicBezTo>
                    <a:pt x="6144287" y="3310066"/>
                    <a:pt x="6135829" y="3054885"/>
                    <a:pt x="6259997" y="2839836"/>
                  </a:cubicBezTo>
                  <a:cubicBezTo>
                    <a:pt x="6445277" y="2518945"/>
                    <a:pt x="6335320" y="2108697"/>
                    <a:pt x="6014429" y="1923417"/>
                  </a:cubicBezTo>
                  <a:lnTo>
                    <a:pt x="6014379" y="1923366"/>
                  </a:lnTo>
                  <a:lnTo>
                    <a:pt x="6014506" y="1923328"/>
                  </a:lnTo>
                  <a:cubicBezTo>
                    <a:pt x="5815599" y="1808240"/>
                    <a:pt x="5681309" y="1593953"/>
                    <a:pt x="5679188" y="1348132"/>
                  </a:cubicBezTo>
                  <a:cubicBezTo>
                    <a:pt x="5680356" y="1232130"/>
                    <a:pt x="5651438" y="1114401"/>
                    <a:pt x="5589297" y="1006730"/>
                  </a:cubicBezTo>
                </a:path>
              </a:pathLst>
            </a:custGeom>
            <a:blipFill>
              <a:blip r:embed="rId5"/>
              <a:stretch>
                <a:fillRect l="0" t="-13982" r="0" b="-37038"/>
              </a:stretch>
            </a:blipFill>
          </p:spPr>
        </p:sp>
      </p:grpSp>
      <p:sp>
        <p:nvSpPr>
          <p:cNvPr name="Freeform 9" id="9"/>
          <p:cNvSpPr/>
          <p:nvPr/>
        </p:nvSpPr>
        <p:spPr>
          <a:xfrm flipH="false" flipV="false" rot="0">
            <a:off x="339210" y="367620"/>
            <a:ext cx="1532100" cy="1650748"/>
          </a:xfrm>
          <a:custGeom>
            <a:avLst/>
            <a:gdLst/>
            <a:ahLst/>
            <a:cxnLst/>
            <a:rect r="r" b="b" t="t" l="l"/>
            <a:pathLst>
              <a:path h="1650748" w="1532100">
                <a:moveTo>
                  <a:pt x="0" y="0"/>
                </a:moveTo>
                <a:lnTo>
                  <a:pt x="1532100" y="0"/>
                </a:lnTo>
                <a:lnTo>
                  <a:pt x="1532100" y="1650748"/>
                </a:lnTo>
                <a:lnTo>
                  <a:pt x="0" y="1650748"/>
                </a:lnTo>
                <a:lnTo>
                  <a:pt x="0" y="0"/>
                </a:lnTo>
                <a:close/>
              </a:path>
            </a:pathLst>
          </a:custGeom>
          <a:blipFill>
            <a:blip r:embed="rId6"/>
            <a:stretch>
              <a:fillRect l="0" t="0" r="0" b="0"/>
            </a:stretch>
          </a:blipFill>
        </p:spPr>
      </p:sp>
      <p:sp>
        <p:nvSpPr>
          <p:cNvPr name="TextBox 10" id="10"/>
          <p:cNvSpPr txBox="true"/>
          <p:nvPr/>
        </p:nvSpPr>
        <p:spPr>
          <a:xfrm rot="0">
            <a:off x="5676618" y="1791504"/>
            <a:ext cx="6756386" cy="967259"/>
          </a:xfrm>
          <a:prstGeom prst="rect">
            <a:avLst/>
          </a:prstGeom>
        </p:spPr>
        <p:txBody>
          <a:bodyPr anchor="t" rtlCol="false" tIns="0" lIns="0" bIns="0" rIns="0">
            <a:spAutoFit/>
          </a:bodyPr>
          <a:lstStyle/>
          <a:p>
            <a:pPr algn="ctr">
              <a:lnSpc>
                <a:spcPts val="7940"/>
              </a:lnSpc>
            </a:pPr>
            <a:r>
              <a:rPr lang="en-US" b="true" sz="5672">
                <a:solidFill>
                  <a:srgbClr val="004AAD"/>
                </a:solidFill>
                <a:latin typeface="League Spartan"/>
                <a:ea typeface="League Spartan"/>
                <a:cs typeface="League Spartan"/>
                <a:sym typeface="League Spartan"/>
              </a:rPr>
              <a:t>TEAM MEMBERS</a:t>
            </a:r>
          </a:p>
        </p:txBody>
      </p:sp>
      <p:sp>
        <p:nvSpPr>
          <p:cNvPr name="TextBox 11" id="11"/>
          <p:cNvSpPr txBox="true"/>
          <p:nvPr/>
        </p:nvSpPr>
        <p:spPr>
          <a:xfrm rot="0">
            <a:off x="6118918" y="1116794"/>
            <a:ext cx="5871786" cy="624298"/>
          </a:xfrm>
          <a:prstGeom prst="rect">
            <a:avLst/>
          </a:prstGeom>
        </p:spPr>
        <p:txBody>
          <a:bodyPr anchor="t" rtlCol="false" tIns="0" lIns="0" bIns="0" rIns="0">
            <a:spAutoFit/>
          </a:bodyPr>
          <a:lstStyle/>
          <a:p>
            <a:pPr algn="ctr">
              <a:lnSpc>
                <a:spcPts val="5094"/>
              </a:lnSpc>
            </a:pPr>
            <a:r>
              <a:rPr lang="en-US" sz="3639">
                <a:solidFill>
                  <a:srgbClr val="303642"/>
                </a:solidFill>
                <a:latin typeface="Roboto"/>
                <a:ea typeface="Roboto"/>
                <a:cs typeface="Roboto"/>
                <a:sym typeface="Roboto"/>
              </a:rPr>
              <a:t>MEET OUR</a:t>
            </a:r>
          </a:p>
        </p:txBody>
      </p:sp>
      <p:sp>
        <p:nvSpPr>
          <p:cNvPr name="TextBox 12" id="12"/>
          <p:cNvSpPr txBox="true"/>
          <p:nvPr/>
        </p:nvSpPr>
        <p:spPr>
          <a:xfrm rot="0">
            <a:off x="1871310" y="7521404"/>
            <a:ext cx="4247608" cy="791448"/>
          </a:xfrm>
          <a:prstGeom prst="rect">
            <a:avLst/>
          </a:prstGeom>
        </p:spPr>
        <p:txBody>
          <a:bodyPr anchor="t" rtlCol="false" tIns="0" lIns="0" bIns="0" rIns="0">
            <a:spAutoFit/>
          </a:bodyPr>
          <a:lstStyle/>
          <a:p>
            <a:pPr algn="ctr">
              <a:lnSpc>
                <a:spcPts val="3107"/>
              </a:lnSpc>
            </a:pPr>
            <a:r>
              <a:rPr lang="en-US" sz="2219">
                <a:solidFill>
                  <a:srgbClr val="303642"/>
                </a:solidFill>
                <a:latin typeface="Poppins"/>
                <a:ea typeface="Poppins"/>
                <a:cs typeface="Poppins"/>
                <a:sym typeface="Poppins"/>
              </a:rPr>
              <a:t>Wika Romauli Siregar</a:t>
            </a:r>
          </a:p>
          <a:p>
            <a:pPr algn="ctr">
              <a:lnSpc>
                <a:spcPts val="3107"/>
              </a:lnSpc>
              <a:spcBef>
                <a:spcPct val="0"/>
              </a:spcBef>
            </a:pPr>
            <a:r>
              <a:rPr lang="en-US" sz="2219">
                <a:solidFill>
                  <a:srgbClr val="303642"/>
                </a:solidFill>
                <a:latin typeface="Poppins"/>
                <a:ea typeface="Poppins"/>
                <a:cs typeface="Poppins"/>
                <a:sym typeface="Poppins"/>
              </a:rPr>
              <a:t>NIM : 11323015</a:t>
            </a:r>
          </a:p>
        </p:txBody>
      </p:sp>
      <p:sp>
        <p:nvSpPr>
          <p:cNvPr name="TextBox 13" id="13"/>
          <p:cNvSpPr txBox="true"/>
          <p:nvPr/>
        </p:nvSpPr>
        <p:spPr>
          <a:xfrm rot="0">
            <a:off x="6931726" y="7521404"/>
            <a:ext cx="4247608" cy="791448"/>
          </a:xfrm>
          <a:prstGeom prst="rect">
            <a:avLst/>
          </a:prstGeom>
        </p:spPr>
        <p:txBody>
          <a:bodyPr anchor="t" rtlCol="false" tIns="0" lIns="0" bIns="0" rIns="0">
            <a:spAutoFit/>
          </a:bodyPr>
          <a:lstStyle/>
          <a:p>
            <a:pPr algn="ctr">
              <a:lnSpc>
                <a:spcPts val="3107"/>
              </a:lnSpc>
            </a:pPr>
            <a:r>
              <a:rPr lang="en-US" sz="2219">
                <a:solidFill>
                  <a:srgbClr val="303642"/>
                </a:solidFill>
                <a:latin typeface="Poppins"/>
                <a:ea typeface="Poppins"/>
                <a:cs typeface="Poppins"/>
                <a:sym typeface="Poppins"/>
              </a:rPr>
              <a:t>Santo Martogi Simangunsong</a:t>
            </a:r>
          </a:p>
          <a:p>
            <a:pPr algn="ctr">
              <a:lnSpc>
                <a:spcPts val="3107"/>
              </a:lnSpc>
              <a:spcBef>
                <a:spcPct val="0"/>
              </a:spcBef>
            </a:pPr>
            <a:r>
              <a:rPr lang="en-US" sz="2219">
                <a:solidFill>
                  <a:srgbClr val="303642"/>
                </a:solidFill>
                <a:latin typeface="Poppins"/>
                <a:ea typeface="Poppins"/>
                <a:cs typeface="Poppins"/>
                <a:sym typeface="Poppins"/>
              </a:rPr>
              <a:t>NIM : 11323017</a:t>
            </a:r>
          </a:p>
        </p:txBody>
      </p:sp>
      <p:sp>
        <p:nvSpPr>
          <p:cNvPr name="TextBox 14" id="14"/>
          <p:cNvSpPr txBox="true"/>
          <p:nvPr/>
        </p:nvSpPr>
        <p:spPr>
          <a:xfrm rot="0">
            <a:off x="12169082" y="7521404"/>
            <a:ext cx="4247608" cy="791448"/>
          </a:xfrm>
          <a:prstGeom prst="rect">
            <a:avLst/>
          </a:prstGeom>
        </p:spPr>
        <p:txBody>
          <a:bodyPr anchor="t" rtlCol="false" tIns="0" lIns="0" bIns="0" rIns="0">
            <a:spAutoFit/>
          </a:bodyPr>
          <a:lstStyle/>
          <a:p>
            <a:pPr algn="ctr">
              <a:lnSpc>
                <a:spcPts val="3107"/>
              </a:lnSpc>
            </a:pPr>
            <a:r>
              <a:rPr lang="en-US" sz="2219">
                <a:solidFill>
                  <a:srgbClr val="303642"/>
                </a:solidFill>
                <a:latin typeface="Poppins"/>
                <a:ea typeface="Poppins"/>
                <a:cs typeface="Poppins"/>
                <a:sym typeface="Poppins"/>
              </a:rPr>
              <a:t>Lasro Pesta Natalia Tamba</a:t>
            </a:r>
          </a:p>
          <a:p>
            <a:pPr algn="ctr">
              <a:lnSpc>
                <a:spcPts val="3107"/>
              </a:lnSpc>
              <a:spcBef>
                <a:spcPct val="0"/>
              </a:spcBef>
            </a:pPr>
            <a:r>
              <a:rPr lang="en-US" sz="2219">
                <a:solidFill>
                  <a:srgbClr val="303642"/>
                </a:solidFill>
                <a:latin typeface="Poppins"/>
                <a:ea typeface="Poppins"/>
                <a:cs typeface="Poppins"/>
                <a:sym typeface="Poppins"/>
              </a:rPr>
              <a:t>NIM  : 11323052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57175" y="2091176"/>
            <a:ext cx="18802350" cy="2006600"/>
            <a:chOff x="0" y="0"/>
            <a:chExt cx="4952059" cy="528487"/>
          </a:xfrm>
        </p:grpSpPr>
        <p:sp>
          <p:nvSpPr>
            <p:cNvPr name="Freeform 4" id="4"/>
            <p:cNvSpPr/>
            <p:nvPr/>
          </p:nvSpPr>
          <p:spPr>
            <a:xfrm flipH="false" flipV="false" rot="0">
              <a:off x="0" y="0"/>
              <a:ext cx="4952059" cy="528487"/>
            </a:xfrm>
            <a:custGeom>
              <a:avLst/>
              <a:gdLst/>
              <a:ahLst/>
              <a:cxnLst/>
              <a:rect r="r" b="b" t="t" l="l"/>
              <a:pathLst>
                <a:path h="528487" w="4952059">
                  <a:moveTo>
                    <a:pt x="20999" y="0"/>
                  </a:moveTo>
                  <a:lnTo>
                    <a:pt x="4931060" y="0"/>
                  </a:lnTo>
                  <a:cubicBezTo>
                    <a:pt x="4936629" y="0"/>
                    <a:pt x="4941970" y="2212"/>
                    <a:pt x="4945909" y="6151"/>
                  </a:cubicBezTo>
                  <a:cubicBezTo>
                    <a:pt x="4949847" y="10089"/>
                    <a:pt x="4952059" y="15430"/>
                    <a:pt x="4952059" y="20999"/>
                  </a:cubicBezTo>
                  <a:lnTo>
                    <a:pt x="4952059" y="507488"/>
                  </a:lnTo>
                  <a:cubicBezTo>
                    <a:pt x="4952059" y="519086"/>
                    <a:pt x="4942658" y="528487"/>
                    <a:pt x="4931060" y="528487"/>
                  </a:cubicBezTo>
                  <a:lnTo>
                    <a:pt x="20999" y="528487"/>
                  </a:lnTo>
                  <a:cubicBezTo>
                    <a:pt x="15430" y="528487"/>
                    <a:pt x="10089" y="526275"/>
                    <a:pt x="6151" y="522337"/>
                  </a:cubicBezTo>
                  <a:cubicBezTo>
                    <a:pt x="2212" y="518399"/>
                    <a:pt x="0" y="513057"/>
                    <a:pt x="0" y="507488"/>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5" id="5"/>
            <p:cNvSpPr txBox="true"/>
            <p:nvPr/>
          </p:nvSpPr>
          <p:spPr>
            <a:xfrm>
              <a:off x="0" y="-47625"/>
              <a:ext cx="4952059" cy="5761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765807" y="2561673"/>
            <a:ext cx="6116006" cy="960831"/>
          </a:xfrm>
          <a:prstGeom prst="rect">
            <a:avLst/>
          </a:prstGeom>
        </p:spPr>
        <p:txBody>
          <a:bodyPr anchor="t" rtlCol="false" tIns="0" lIns="0" bIns="0" rIns="0">
            <a:spAutoFit/>
          </a:bodyPr>
          <a:lstStyle/>
          <a:p>
            <a:pPr algn="ctr">
              <a:lnSpc>
                <a:spcPts val="7940"/>
              </a:lnSpc>
            </a:pPr>
            <a:r>
              <a:rPr lang="en-US" b="true" sz="5672">
                <a:solidFill>
                  <a:srgbClr val="FFFFFF"/>
                </a:solidFill>
                <a:latin typeface="League Spartan"/>
                <a:ea typeface="League Spartan"/>
                <a:cs typeface="League Spartan"/>
                <a:sym typeface="League Spartan"/>
              </a:rPr>
              <a:t>OUTLINE</a:t>
            </a:r>
          </a:p>
        </p:txBody>
      </p:sp>
      <p:sp>
        <p:nvSpPr>
          <p:cNvPr name="TextBox 7" id="7"/>
          <p:cNvSpPr txBox="true"/>
          <p:nvPr/>
        </p:nvSpPr>
        <p:spPr>
          <a:xfrm rot="0">
            <a:off x="2163227" y="6888708"/>
            <a:ext cx="3797048" cy="1080923"/>
          </a:xfrm>
          <a:prstGeom prst="rect">
            <a:avLst/>
          </a:prstGeom>
        </p:spPr>
        <p:txBody>
          <a:bodyPr anchor="t" rtlCol="false" tIns="0" lIns="0" bIns="0" rIns="0">
            <a:spAutoFit/>
          </a:bodyPr>
          <a:lstStyle/>
          <a:p>
            <a:pPr algn="l">
              <a:lnSpc>
                <a:spcPts val="4279"/>
              </a:lnSpc>
              <a:spcBef>
                <a:spcPct val="0"/>
              </a:spcBef>
            </a:pPr>
            <a:r>
              <a:rPr lang="en-US" sz="3056" b="true">
                <a:solidFill>
                  <a:srgbClr val="303642"/>
                </a:solidFill>
                <a:latin typeface="Poppins Bold"/>
                <a:ea typeface="Poppins Bold"/>
                <a:cs typeface="Poppins Bold"/>
                <a:sym typeface="Poppins Bold"/>
              </a:rPr>
              <a:t>Business Understanding</a:t>
            </a:r>
          </a:p>
        </p:txBody>
      </p:sp>
      <p:sp>
        <p:nvSpPr>
          <p:cNvPr name="TextBox 8" id="8"/>
          <p:cNvSpPr txBox="true"/>
          <p:nvPr/>
        </p:nvSpPr>
        <p:spPr>
          <a:xfrm rot="0">
            <a:off x="2163227" y="8375330"/>
            <a:ext cx="3797048" cy="1080923"/>
          </a:xfrm>
          <a:prstGeom prst="rect">
            <a:avLst/>
          </a:prstGeom>
        </p:spPr>
        <p:txBody>
          <a:bodyPr anchor="t" rtlCol="false" tIns="0" lIns="0" bIns="0" rIns="0">
            <a:spAutoFit/>
          </a:bodyPr>
          <a:lstStyle/>
          <a:p>
            <a:pPr algn="l">
              <a:lnSpc>
                <a:spcPts val="4279"/>
              </a:lnSpc>
              <a:spcBef>
                <a:spcPct val="0"/>
              </a:spcBef>
            </a:pPr>
            <a:r>
              <a:rPr lang="en-US" sz="3056" b="true">
                <a:solidFill>
                  <a:srgbClr val="303642"/>
                </a:solidFill>
                <a:latin typeface="Poppins Bold"/>
                <a:ea typeface="Poppins Bold"/>
                <a:cs typeface="Poppins Bold"/>
                <a:sym typeface="Poppins Bold"/>
              </a:rPr>
              <a:t>Data understanding</a:t>
            </a:r>
          </a:p>
        </p:txBody>
      </p:sp>
      <p:sp>
        <p:nvSpPr>
          <p:cNvPr name="TextBox 9" id="9"/>
          <p:cNvSpPr txBox="true"/>
          <p:nvPr/>
        </p:nvSpPr>
        <p:spPr>
          <a:xfrm rot="0">
            <a:off x="7382598" y="4670788"/>
            <a:ext cx="3797048" cy="544500"/>
          </a:xfrm>
          <a:prstGeom prst="rect">
            <a:avLst/>
          </a:prstGeom>
        </p:spPr>
        <p:txBody>
          <a:bodyPr anchor="t" rtlCol="false" tIns="0" lIns="0" bIns="0" rIns="0">
            <a:spAutoFit/>
          </a:bodyPr>
          <a:lstStyle/>
          <a:p>
            <a:pPr algn="l">
              <a:lnSpc>
                <a:spcPts val="4279"/>
              </a:lnSpc>
              <a:spcBef>
                <a:spcPct val="0"/>
              </a:spcBef>
            </a:pPr>
            <a:r>
              <a:rPr lang="en-US" sz="3056" b="true">
                <a:solidFill>
                  <a:srgbClr val="303642"/>
                </a:solidFill>
                <a:latin typeface="Poppins Bold"/>
                <a:ea typeface="Poppins Bold"/>
                <a:cs typeface="Poppins Bold"/>
                <a:sym typeface="Poppins Bold"/>
              </a:rPr>
              <a:t>Data Preparation</a:t>
            </a:r>
          </a:p>
        </p:txBody>
      </p:sp>
      <p:sp>
        <p:nvSpPr>
          <p:cNvPr name="TextBox 10" id="10"/>
          <p:cNvSpPr txBox="true"/>
          <p:nvPr/>
        </p:nvSpPr>
        <p:spPr>
          <a:xfrm rot="0">
            <a:off x="7408235" y="5777997"/>
            <a:ext cx="3797048" cy="544500"/>
          </a:xfrm>
          <a:prstGeom prst="rect">
            <a:avLst/>
          </a:prstGeom>
        </p:spPr>
        <p:txBody>
          <a:bodyPr anchor="t" rtlCol="false" tIns="0" lIns="0" bIns="0" rIns="0">
            <a:spAutoFit/>
          </a:bodyPr>
          <a:lstStyle/>
          <a:p>
            <a:pPr algn="l">
              <a:lnSpc>
                <a:spcPts val="4279"/>
              </a:lnSpc>
              <a:spcBef>
                <a:spcPct val="0"/>
              </a:spcBef>
            </a:pPr>
            <a:r>
              <a:rPr lang="en-US" sz="3056" b="true">
                <a:solidFill>
                  <a:srgbClr val="303642"/>
                </a:solidFill>
                <a:latin typeface="Poppins Bold"/>
                <a:ea typeface="Poppins Bold"/>
                <a:cs typeface="Poppins Bold"/>
                <a:sym typeface="Poppins Bold"/>
              </a:rPr>
              <a:t>Modeling</a:t>
            </a:r>
          </a:p>
        </p:txBody>
      </p:sp>
      <p:sp>
        <p:nvSpPr>
          <p:cNvPr name="TextBox 11" id="11"/>
          <p:cNvSpPr txBox="true"/>
          <p:nvPr/>
        </p:nvSpPr>
        <p:spPr>
          <a:xfrm rot="0">
            <a:off x="7381486" y="8643541"/>
            <a:ext cx="3797048" cy="544500"/>
          </a:xfrm>
          <a:prstGeom prst="rect">
            <a:avLst/>
          </a:prstGeom>
        </p:spPr>
        <p:txBody>
          <a:bodyPr anchor="t" rtlCol="false" tIns="0" lIns="0" bIns="0" rIns="0">
            <a:spAutoFit/>
          </a:bodyPr>
          <a:lstStyle/>
          <a:p>
            <a:pPr algn="l">
              <a:lnSpc>
                <a:spcPts val="4279"/>
              </a:lnSpc>
              <a:spcBef>
                <a:spcPct val="0"/>
              </a:spcBef>
            </a:pPr>
            <a:r>
              <a:rPr lang="en-US" sz="3056" b="true">
                <a:solidFill>
                  <a:srgbClr val="303642"/>
                </a:solidFill>
                <a:latin typeface="Poppins Bold"/>
                <a:ea typeface="Poppins Bold"/>
                <a:cs typeface="Poppins Bold"/>
                <a:sym typeface="Poppins Bold"/>
              </a:rPr>
              <a:t>CONCLUSION</a:t>
            </a:r>
          </a:p>
        </p:txBody>
      </p:sp>
      <p:sp>
        <p:nvSpPr>
          <p:cNvPr name="TextBox 12" id="12"/>
          <p:cNvSpPr txBox="true"/>
          <p:nvPr/>
        </p:nvSpPr>
        <p:spPr>
          <a:xfrm rot="0">
            <a:off x="13054569" y="4682498"/>
            <a:ext cx="4793850" cy="544500"/>
          </a:xfrm>
          <a:prstGeom prst="rect">
            <a:avLst/>
          </a:prstGeom>
        </p:spPr>
        <p:txBody>
          <a:bodyPr anchor="t" rtlCol="false" tIns="0" lIns="0" bIns="0" rIns="0">
            <a:spAutoFit/>
          </a:bodyPr>
          <a:lstStyle/>
          <a:p>
            <a:pPr algn="l">
              <a:lnSpc>
                <a:spcPts val="4279"/>
              </a:lnSpc>
              <a:spcBef>
                <a:spcPct val="0"/>
              </a:spcBef>
            </a:pPr>
            <a:r>
              <a:rPr lang="en-US" sz="3056" b="true">
                <a:solidFill>
                  <a:srgbClr val="303642"/>
                </a:solidFill>
                <a:latin typeface="Poppins Bold"/>
                <a:ea typeface="Poppins Bold"/>
                <a:cs typeface="Poppins Bold"/>
                <a:sym typeface="Poppins Bold"/>
              </a:rPr>
              <a:t>SUGGESTION</a:t>
            </a:r>
          </a:p>
        </p:txBody>
      </p:sp>
      <p:grpSp>
        <p:nvGrpSpPr>
          <p:cNvPr name="Group 13" id="13"/>
          <p:cNvGrpSpPr/>
          <p:nvPr/>
        </p:nvGrpSpPr>
        <p:grpSpPr>
          <a:xfrm rot="0">
            <a:off x="6131725" y="4568377"/>
            <a:ext cx="835046" cy="83504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6182998" y="4655850"/>
            <a:ext cx="732499" cy="599019"/>
          </a:xfrm>
          <a:prstGeom prst="rect">
            <a:avLst/>
          </a:prstGeom>
        </p:spPr>
        <p:txBody>
          <a:bodyPr anchor="t" rtlCol="false" tIns="0" lIns="0" bIns="0" rIns="0">
            <a:spAutoFit/>
          </a:bodyPr>
          <a:lstStyle/>
          <a:p>
            <a:pPr algn="ctr">
              <a:lnSpc>
                <a:spcPts val="4917"/>
              </a:lnSpc>
            </a:pPr>
            <a:r>
              <a:rPr lang="en-US" b="true" sz="3512">
                <a:solidFill>
                  <a:srgbClr val="E5E5E5"/>
                </a:solidFill>
                <a:latin typeface="League Spartan"/>
                <a:ea typeface="League Spartan"/>
                <a:cs typeface="League Spartan"/>
                <a:sym typeface="League Spartan"/>
              </a:rPr>
              <a:t>5</a:t>
            </a:r>
          </a:p>
        </p:txBody>
      </p:sp>
      <p:grpSp>
        <p:nvGrpSpPr>
          <p:cNvPr name="Group 17" id="17"/>
          <p:cNvGrpSpPr/>
          <p:nvPr/>
        </p:nvGrpSpPr>
        <p:grpSpPr>
          <a:xfrm rot="0">
            <a:off x="6131725" y="5755663"/>
            <a:ext cx="835046" cy="83504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19" id="19"/>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6182998" y="5888834"/>
            <a:ext cx="732499" cy="599019"/>
          </a:xfrm>
          <a:prstGeom prst="rect">
            <a:avLst/>
          </a:prstGeom>
        </p:spPr>
        <p:txBody>
          <a:bodyPr anchor="t" rtlCol="false" tIns="0" lIns="0" bIns="0" rIns="0">
            <a:spAutoFit/>
          </a:bodyPr>
          <a:lstStyle/>
          <a:p>
            <a:pPr algn="ctr">
              <a:lnSpc>
                <a:spcPts val="4917"/>
              </a:lnSpc>
            </a:pPr>
            <a:r>
              <a:rPr lang="en-US" b="true" sz="3512">
                <a:solidFill>
                  <a:srgbClr val="E5E5E5"/>
                </a:solidFill>
                <a:latin typeface="League Spartan"/>
                <a:ea typeface="League Spartan"/>
                <a:cs typeface="League Spartan"/>
                <a:sym typeface="League Spartan"/>
              </a:rPr>
              <a:t>6</a:t>
            </a:r>
          </a:p>
        </p:txBody>
      </p:sp>
      <p:grpSp>
        <p:nvGrpSpPr>
          <p:cNvPr name="Group 21" id="21"/>
          <p:cNvGrpSpPr/>
          <p:nvPr/>
        </p:nvGrpSpPr>
        <p:grpSpPr>
          <a:xfrm rot="0">
            <a:off x="6131725" y="7134585"/>
            <a:ext cx="835046" cy="835046"/>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23" id="23"/>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6182998" y="7267756"/>
            <a:ext cx="732499" cy="599019"/>
          </a:xfrm>
          <a:prstGeom prst="rect">
            <a:avLst/>
          </a:prstGeom>
        </p:spPr>
        <p:txBody>
          <a:bodyPr anchor="t" rtlCol="false" tIns="0" lIns="0" bIns="0" rIns="0">
            <a:spAutoFit/>
          </a:bodyPr>
          <a:lstStyle/>
          <a:p>
            <a:pPr algn="ctr">
              <a:lnSpc>
                <a:spcPts val="4917"/>
              </a:lnSpc>
            </a:pPr>
            <a:r>
              <a:rPr lang="en-US" b="true" sz="3512">
                <a:solidFill>
                  <a:srgbClr val="E5E5E5"/>
                </a:solidFill>
                <a:latin typeface="League Spartan"/>
                <a:ea typeface="League Spartan"/>
                <a:cs typeface="League Spartan"/>
                <a:sym typeface="League Spartan"/>
              </a:rPr>
              <a:t>7</a:t>
            </a:r>
          </a:p>
        </p:txBody>
      </p:sp>
      <p:grpSp>
        <p:nvGrpSpPr>
          <p:cNvPr name="Group 25" id="25"/>
          <p:cNvGrpSpPr/>
          <p:nvPr/>
        </p:nvGrpSpPr>
        <p:grpSpPr>
          <a:xfrm rot="0">
            <a:off x="6078227" y="8621207"/>
            <a:ext cx="835046" cy="835046"/>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27" id="27"/>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6129500" y="8754378"/>
            <a:ext cx="732499" cy="599019"/>
          </a:xfrm>
          <a:prstGeom prst="rect">
            <a:avLst/>
          </a:prstGeom>
        </p:spPr>
        <p:txBody>
          <a:bodyPr anchor="t" rtlCol="false" tIns="0" lIns="0" bIns="0" rIns="0">
            <a:spAutoFit/>
          </a:bodyPr>
          <a:lstStyle/>
          <a:p>
            <a:pPr algn="ctr">
              <a:lnSpc>
                <a:spcPts val="4917"/>
              </a:lnSpc>
            </a:pPr>
            <a:r>
              <a:rPr lang="en-US" b="true" sz="3512">
                <a:solidFill>
                  <a:srgbClr val="E5E5E5"/>
                </a:solidFill>
                <a:latin typeface="League Spartan"/>
                <a:ea typeface="League Spartan"/>
                <a:cs typeface="League Spartan"/>
                <a:sym typeface="League Spartan"/>
              </a:rPr>
              <a:t>8</a:t>
            </a:r>
          </a:p>
        </p:txBody>
      </p:sp>
      <p:grpSp>
        <p:nvGrpSpPr>
          <p:cNvPr name="Group 29" id="29"/>
          <p:cNvGrpSpPr/>
          <p:nvPr/>
        </p:nvGrpSpPr>
        <p:grpSpPr>
          <a:xfrm rot="0">
            <a:off x="11595474" y="4568377"/>
            <a:ext cx="835046" cy="835046"/>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31" id="31"/>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11646747" y="4701548"/>
            <a:ext cx="732499" cy="599019"/>
          </a:xfrm>
          <a:prstGeom prst="rect">
            <a:avLst/>
          </a:prstGeom>
        </p:spPr>
        <p:txBody>
          <a:bodyPr anchor="t" rtlCol="false" tIns="0" lIns="0" bIns="0" rIns="0">
            <a:spAutoFit/>
          </a:bodyPr>
          <a:lstStyle/>
          <a:p>
            <a:pPr algn="ctr">
              <a:lnSpc>
                <a:spcPts val="4917"/>
              </a:lnSpc>
            </a:pPr>
            <a:r>
              <a:rPr lang="en-US" b="true" sz="3512">
                <a:solidFill>
                  <a:srgbClr val="E5E5E5"/>
                </a:solidFill>
                <a:latin typeface="League Spartan"/>
                <a:ea typeface="League Spartan"/>
                <a:cs typeface="League Spartan"/>
                <a:sym typeface="League Spartan"/>
              </a:rPr>
              <a:t>9</a:t>
            </a:r>
          </a:p>
        </p:txBody>
      </p:sp>
      <p:grpSp>
        <p:nvGrpSpPr>
          <p:cNvPr name="Group 33" id="33"/>
          <p:cNvGrpSpPr/>
          <p:nvPr/>
        </p:nvGrpSpPr>
        <p:grpSpPr>
          <a:xfrm rot="0">
            <a:off x="11595474" y="5675587"/>
            <a:ext cx="835046" cy="835046"/>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35" id="35"/>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11646747" y="5808758"/>
            <a:ext cx="732499" cy="599019"/>
          </a:xfrm>
          <a:prstGeom prst="rect">
            <a:avLst/>
          </a:prstGeom>
        </p:spPr>
        <p:txBody>
          <a:bodyPr anchor="t" rtlCol="false" tIns="0" lIns="0" bIns="0" rIns="0">
            <a:spAutoFit/>
          </a:bodyPr>
          <a:lstStyle/>
          <a:p>
            <a:pPr algn="ctr">
              <a:lnSpc>
                <a:spcPts val="4917"/>
              </a:lnSpc>
            </a:pPr>
            <a:r>
              <a:rPr lang="en-US" b="true" sz="3512">
                <a:solidFill>
                  <a:srgbClr val="E5E5E5"/>
                </a:solidFill>
                <a:latin typeface="League Spartan"/>
                <a:ea typeface="League Spartan"/>
                <a:cs typeface="League Spartan"/>
                <a:sym typeface="League Spartan"/>
              </a:rPr>
              <a:t>10</a:t>
            </a:r>
          </a:p>
        </p:txBody>
      </p:sp>
      <p:sp>
        <p:nvSpPr>
          <p:cNvPr name="Freeform 37" id="37"/>
          <p:cNvSpPr/>
          <p:nvPr/>
        </p:nvSpPr>
        <p:spPr>
          <a:xfrm flipH="false" flipV="false" rot="0">
            <a:off x="569162" y="428443"/>
            <a:ext cx="4879662" cy="881683"/>
          </a:xfrm>
          <a:custGeom>
            <a:avLst/>
            <a:gdLst/>
            <a:ahLst/>
            <a:cxnLst/>
            <a:rect r="r" b="b" t="t" l="l"/>
            <a:pathLst>
              <a:path h="881683" w="4879662">
                <a:moveTo>
                  <a:pt x="0" y="0"/>
                </a:moveTo>
                <a:lnTo>
                  <a:pt x="4879662" y="0"/>
                </a:lnTo>
                <a:lnTo>
                  <a:pt x="4879662" y="881683"/>
                </a:lnTo>
                <a:lnTo>
                  <a:pt x="0" y="881683"/>
                </a:lnTo>
                <a:lnTo>
                  <a:pt x="0" y="0"/>
                </a:lnTo>
                <a:close/>
              </a:path>
            </a:pathLst>
          </a:custGeom>
          <a:blipFill>
            <a:blip r:embed="rId3"/>
            <a:stretch>
              <a:fillRect l="0" t="0" r="0" b="0"/>
            </a:stretch>
          </a:blipFill>
        </p:spPr>
      </p:sp>
      <p:sp>
        <p:nvSpPr>
          <p:cNvPr name="TextBox 38" id="38"/>
          <p:cNvSpPr txBox="true"/>
          <p:nvPr/>
        </p:nvSpPr>
        <p:spPr>
          <a:xfrm rot="0">
            <a:off x="13054569" y="5777997"/>
            <a:ext cx="3797048" cy="544500"/>
          </a:xfrm>
          <a:prstGeom prst="rect">
            <a:avLst/>
          </a:prstGeom>
        </p:spPr>
        <p:txBody>
          <a:bodyPr anchor="t" rtlCol="false" tIns="0" lIns="0" bIns="0" rIns="0">
            <a:spAutoFit/>
          </a:bodyPr>
          <a:lstStyle/>
          <a:p>
            <a:pPr algn="l">
              <a:lnSpc>
                <a:spcPts val="4279"/>
              </a:lnSpc>
              <a:spcBef>
                <a:spcPct val="0"/>
              </a:spcBef>
            </a:pPr>
            <a:r>
              <a:rPr lang="en-US" sz="3056" b="true">
                <a:solidFill>
                  <a:srgbClr val="303642"/>
                </a:solidFill>
                <a:latin typeface="Poppins Bold"/>
                <a:ea typeface="Poppins Bold"/>
                <a:cs typeface="Poppins Bold"/>
                <a:sym typeface="Poppins Bold"/>
              </a:rPr>
              <a:t>Evaluation</a:t>
            </a:r>
          </a:p>
        </p:txBody>
      </p:sp>
      <p:sp>
        <p:nvSpPr>
          <p:cNvPr name="TextBox 39" id="39"/>
          <p:cNvSpPr txBox="true"/>
          <p:nvPr/>
        </p:nvSpPr>
        <p:spPr>
          <a:xfrm rot="0">
            <a:off x="13054569" y="7156919"/>
            <a:ext cx="4793850" cy="544500"/>
          </a:xfrm>
          <a:prstGeom prst="rect">
            <a:avLst/>
          </a:prstGeom>
        </p:spPr>
        <p:txBody>
          <a:bodyPr anchor="t" rtlCol="false" tIns="0" lIns="0" bIns="0" rIns="0">
            <a:spAutoFit/>
          </a:bodyPr>
          <a:lstStyle/>
          <a:p>
            <a:pPr algn="l">
              <a:lnSpc>
                <a:spcPts val="4279"/>
              </a:lnSpc>
              <a:spcBef>
                <a:spcPct val="0"/>
              </a:spcBef>
            </a:pPr>
            <a:r>
              <a:rPr lang="en-US" sz="3056" b="true">
                <a:solidFill>
                  <a:srgbClr val="303642"/>
                </a:solidFill>
                <a:latin typeface="Poppins Bold"/>
                <a:ea typeface="Poppins Bold"/>
                <a:cs typeface="Poppins Bold"/>
                <a:sym typeface="Poppins Bold"/>
              </a:rPr>
              <a:t> Demo</a:t>
            </a:r>
          </a:p>
        </p:txBody>
      </p:sp>
      <p:grpSp>
        <p:nvGrpSpPr>
          <p:cNvPr name="Group 40" id="40"/>
          <p:cNvGrpSpPr/>
          <p:nvPr/>
        </p:nvGrpSpPr>
        <p:grpSpPr>
          <a:xfrm rot="0">
            <a:off x="11646747" y="7054509"/>
            <a:ext cx="835046" cy="835046"/>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42" id="42"/>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43" id="43"/>
          <p:cNvSpPr txBox="true"/>
          <p:nvPr/>
        </p:nvSpPr>
        <p:spPr>
          <a:xfrm rot="0">
            <a:off x="11698021" y="7187680"/>
            <a:ext cx="732499" cy="599019"/>
          </a:xfrm>
          <a:prstGeom prst="rect">
            <a:avLst/>
          </a:prstGeom>
        </p:spPr>
        <p:txBody>
          <a:bodyPr anchor="t" rtlCol="false" tIns="0" lIns="0" bIns="0" rIns="0">
            <a:spAutoFit/>
          </a:bodyPr>
          <a:lstStyle/>
          <a:p>
            <a:pPr algn="ctr">
              <a:lnSpc>
                <a:spcPts val="4917"/>
              </a:lnSpc>
            </a:pPr>
            <a:r>
              <a:rPr lang="en-US" b="true" sz="3512">
                <a:solidFill>
                  <a:srgbClr val="E5E5E5"/>
                </a:solidFill>
                <a:latin typeface="League Spartan"/>
                <a:ea typeface="League Spartan"/>
                <a:cs typeface="League Spartan"/>
                <a:sym typeface="League Spartan"/>
              </a:rPr>
              <a:t>11</a:t>
            </a:r>
          </a:p>
        </p:txBody>
      </p:sp>
      <p:grpSp>
        <p:nvGrpSpPr>
          <p:cNvPr name="Group 44" id="44"/>
          <p:cNvGrpSpPr/>
          <p:nvPr/>
        </p:nvGrpSpPr>
        <p:grpSpPr>
          <a:xfrm rot="0">
            <a:off x="1082198" y="4488301"/>
            <a:ext cx="835046" cy="835046"/>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46" id="46"/>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47" id="47"/>
          <p:cNvSpPr txBox="true"/>
          <p:nvPr/>
        </p:nvSpPr>
        <p:spPr>
          <a:xfrm rot="0">
            <a:off x="1133471" y="4575774"/>
            <a:ext cx="732499" cy="599019"/>
          </a:xfrm>
          <a:prstGeom prst="rect">
            <a:avLst/>
          </a:prstGeom>
        </p:spPr>
        <p:txBody>
          <a:bodyPr anchor="t" rtlCol="false" tIns="0" lIns="0" bIns="0" rIns="0">
            <a:spAutoFit/>
          </a:bodyPr>
          <a:lstStyle/>
          <a:p>
            <a:pPr algn="ctr">
              <a:lnSpc>
                <a:spcPts val="4917"/>
              </a:lnSpc>
            </a:pPr>
            <a:r>
              <a:rPr lang="en-US" sz="3512">
                <a:solidFill>
                  <a:srgbClr val="E5E5E5"/>
                </a:solidFill>
                <a:latin typeface="League Spartan"/>
                <a:ea typeface="League Spartan"/>
                <a:cs typeface="League Spartan"/>
                <a:sym typeface="League Spartan"/>
              </a:rPr>
              <a:t>1</a:t>
            </a:r>
          </a:p>
        </p:txBody>
      </p:sp>
      <p:grpSp>
        <p:nvGrpSpPr>
          <p:cNvPr name="Group 48" id="48"/>
          <p:cNvGrpSpPr/>
          <p:nvPr/>
        </p:nvGrpSpPr>
        <p:grpSpPr>
          <a:xfrm rot="0">
            <a:off x="1082198" y="5675587"/>
            <a:ext cx="835046" cy="835046"/>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50" id="50"/>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51" id="51"/>
          <p:cNvSpPr txBox="true"/>
          <p:nvPr/>
        </p:nvSpPr>
        <p:spPr>
          <a:xfrm rot="0">
            <a:off x="1133471" y="5808758"/>
            <a:ext cx="732499" cy="599019"/>
          </a:xfrm>
          <a:prstGeom prst="rect">
            <a:avLst/>
          </a:prstGeom>
        </p:spPr>
        <p:txBody>
          <a:bodyPr anchor="t" rtlCol="false" tIns="0" lIns="0" bIns="0" rIns="0">
            <a:spAutoFit/>
          </a:bodyPr>
          <a:lstStyle/>
          <a:p>
            <a:pPr algn="ctr">
              <a:lnSpc>
                <a:spcPts val="4917"/>
              </a:lnSpc>
            </a:pPr>
            <a:r>
              <a:rPr lang="en-US" b="true" sz="3512">
                <a:solidFill>
                  <a:srgbClr val="E5E5E5"/>
                </a:solidFill>
                <a:latin typeface="League Spartan"/>
                <a:ea typeface="League Spartan"/>
                <a:cs typeface="League Spartan"/>
                <a:sym typeface="League Spartan"/>
              </a:rPr>
              <a:t>2</a:t>
            </a:r>
          </a:p>
        </p:txBody>
      </p:sp>
      <p:grpSp>
        <p:nvGrpSpPr>
          <p:cNvPr name="Group 52" id="52"/>
          <p:cNvGrpSpPr/>
          <p:nvPr/>
        </p:nvGrpSpPr>
        <p:grpSpPr>
          <a:xfrm rot="0">
            <a:off x="1082198" y="7054509"/>
            <a:ext cx="835046" cy="835046"/>
            <a:chOff x="0" y="0"/>
            <a:chExt cx="812800" cy="812800"/>
          </a:xfrm>
        </p:grpSpPr>
        <p:sp>
          <p:nvSpPr>
            <p:cNvPr name="Freeform 53" id="5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54" id="54"/>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55" id="55"/>
          <p:cNvSpPr txBox="true"/>
          <p:nvPr/>
        </p:nvSpPr>
        <p:spPr>
          <a:xfrm rot="0">
            <a:off x="1133471" y="7187680"/>
            <a:ext cx="732499" cy="599019"/>
          </a:xfrm>
          <a:prstGeom prst="rect">
            <a:avLst/>
          </a:prstGeom>
        </p:spPr>
        <p:txBody>
          <a:bodyPr anchor="t" rtlCol="false" tIns="0" lIns="0" bIns="0" rIns="0">
            <a:spAutoFit/>
          </a:bodyPr>
          <a:lstStyle/>
          <a:p>
            <a:pPr algn="ctr">
              <a:lnSpc>
                <a:spcPts val="4917"/>
              </a:lnSpc>
            </a:pPr>
            <a:r>
              <a:rPr lang="en-US" sz="3512">
                <a:solidFill>
                  <a:srgbClr val="E5E5E5"/>
                </a:solidFill>
                <a:latin typeface="League Spartan"/>
                <a:ea typeface="League Spartan"/>
                <a:cs typeface="League Spartan"/>
                <a:sym typeface="League Spartan"/>
              </a:rPr>
              <a:t>3</a:t>
            </a:r>
          </a:p>
        </p:txBody>
      </p:sp>
      <p:grpSp>
        <p:nvGrpSpPr>
          <p:cNvPr name="Group 56" id="56"/>
          <p:cNvGrpSpPr/>
          <p:nvPr/>
        </p:nvGrpSpPr>
        <p:grpSpPr>
          <a:xfrm rot="0">
            <a:off x="1028700" y="8541131"/>
            <a:ext cx="835046" cy="835046"/>
            <a:chOff x="0" y="0"/>
            <a:chExt cx="812800" cy="812800"/>
          </a:xfrm>
        </p:grpSpPr>
        <p:sp>
          <p:nvSpPr>
            <p:cNvPr name="Freeform 57" id="5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58" id="58"/>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59" id="59"/>
          <p:cNvSpPr txBox="true"/>
          <p:nvPr/>
        </p:nvSpPr>
        <p:spPr>
          <a:xfrm rot="0">
            <a:off x="1079973" y="8674302"/>
            <a:ext cx="732499" cy="599019"/>
          </a:xfrm>
          <a:prstGeom prst="rect">
            <a:avLst/>
          </a:prstGeom>
        </p:spPr>
        <p:txBody>
          <a:bodyPr anchor="t" rtlCol="false" tIns="0" lIns="0" bIns="0" rIns="0">
            <a:spAutoFit/>
          </a:bodyPr>
          <a:lstStyle/>
          <a:p>
            <a:pPr algn="ctr">
              <a:lnSpc>
                <a:spcPts val="4917"/>
              </a:lnSpc>
            </a:pPr>
            <a:r>
              <a:rPr lang="en-US" sz="3512">
                <a:solidFill>
                  <a:srgbClr val="E5E5E5"/>
                </a:solidFill>
                <a:latin typeface="League Spartan"/>
                <a:ea typeface="League Spartan"/>
                <a:cs typeface="League Spartan"/>
                <a:sym typeface="League Spartan"/>
              </a:rPr>
              <a:t>4</a:t>
            </a:r>
          </a:p>
        </p:txBody>
      </p:sp>
      <p:sp>
        <p:nvSpPr>
          <p:cNvPr name="TextBox 60" id="60"/>
          <p:cNvSpPr txBox="true"/>
          <p:nvPr/>
        </p:nvSpPr>
        <p:spPr>
          <a:xfrm rot="0">
            <a:off x="2239427" y="4593509"/>
            <a:ext cx="3797048" cy="544500"/>
          </a:xfrm>
          <a:prstGeom prst="rect">
            <a:avLst/>
          </a:prstGeom>
        </p:spPr>
        <p:txBody>
          <a:bodyPr anchor="t" rtlCol="false" tIns="0" lIns="0" bIns="0" rIns="0">
            <a:spAutoFit/>
          </a:bodyPr>
          <a:lstStyle/>
          <a:p>
            <a:pPr algn="l">
              <a:lnSpc>
                <a:spcPts val="4279"/>
              </a:lnSpc>
              <a:spcBef>
                <a:spcPct val="0"/>
              </a:spcBef>
            </a:pPr>
            <a:r>
              <a:rPr lang="en-US" sz="3056" b="true">
                <a:solidFill>
                  <a:srgbClr val="303642"/>
                </a:solidFill>
                <a:latin typeface="Poppins Bold"/>
                <a:ea typeface="Poppins Bold"/>
                <a:cs typeface="Poppins Bold"/>
                <a:sym typeface="Poppins Bold"/>
              </a:rPr>
              <a:t>Background</a:t>
            </a:r>
          </a:p>
        </p:txBody>
      </p:sp>
      <p:sp>
        <p:nvSpPr>
          <p:cNvPr name="TextBox 61" id="61"/>
          <p:cNvSpPr txBox="true"/>
          <p:nvPr/>
        </p:nvSpPr>
        <p:spPr>
          <a:xfrm rot="0">
            <a:off x="2163227" y="5777997"/>
            <a:ext cx="3797048" cy="544500"/>
          </a:xfrm>
          <a:prstGeom prst="rect">
            <a:avLst/>
          </a:prstGeom>
        </p:spPr>
        <p:txBody>
          <a:bodyPr anchor="t" rtlCol="false" tIns="0" lIns="0" bIns="0" rIns="0">
            <a:spAutoFit/>
          </a:bodyPr>
          <a:lstStyle/>
          <a:p>
            <a:pPr algn="l">
              <a:lnSpc>
                <a:spcPts val="4279"/>
              </a:lnSpc>
              <a:spcBef>
                <a:spcPct val="0"/>
              </a:spcBef>
            </a:pPr>
            <a:r>
              <a:rPr lang="en-US" sz="3056" b="true">
                <a:solidFill>
                  <a:srgbClr val="303642"/>
                </a:solidFill>
                <a:latin typeface="Poppins Bold"/>
                <a:ea typeface="Poppins Bold"/>
                <a:cs typeface="Poppins Bold"/>
                <a:sym typeface="Poppins Bold"/>
              </a:rPr>
              <a:t>Objectives</a:t>
            </a:r>
          </a:p>
        </p:txBody>
      </p:sp>
      <p:sp>
        <p:nvSpPr>
          <p:cNvPr name="TextBox 62" id="62"/>
          <p:cNvSpPr txBox="true"/>
          <p:nvPr/>
        </p:nvSpPr>
        <p:spPr>
          <a:xfrm rot="0">
            <a:off x="7408235" y="7156919"/>
            <a:ext cx="3797048" cy="544500"/>
          </a:xfrm>
          <a:prstGeom prst="rect">
            <a:avLst/>
          </a:prstGeom>
        </p:spPr>
        <p:txBody>
          <a:bodyPr anchor="t" rtlCol="false" tIns="0" lIns="0" bIns="0" rIns="0">
            <a:spAutoFit/>
          </a:bodyPr>
          <a:lstStyle/>
          <a:p>
            <a:pPr algn="l">
              <a:lnSpc>
                <a:spcPts val="4279"/>
              </a:lnSpc>
              <a:spcBef>
                <a:spcPct val="0"/>
              </a:spcBef>
            </a:pPr>
            <a:r>
              <a:rPr lang="en-US" sz="3056" b="true">
                <a:solidFill>
                  <a:srgbClr val="303642"/>
                </a:solidFill>
                <a:latin typeface="Poppins Bold"/>
                <a:ea typeface="Poppins Bold"/>
                <a:cs typeface="Poppins Bold"/>
                <a:sym typeface="Poppins Bold"/>
              </a:rPr>
              <a:t>Deployment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8997950"/>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004AAD"/>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2379638" y="587858"/>
            <a:ext cx="4879662" cy="881683"/>
          </a:xfrm>
          <a:custGeom>
            <a:avLst/>
            <a:gdLst/>
            <a:ahLst/>
            <a:cxnLst/>
            <a:rect r="r" b="b" t="t" l="l"/>
            <a:pathLst>
              <a:path h="881683" w="4879662">
                <a:moveTo>
                  <a:pt x="0" y="0"/>
                </a:moveTo>
                <a:lnTo>
                  <a:pt x="4879662" y="0"/>
                </a:lnTo>
                <a:lnTo>
                  <a:pt x="4879662" y="881684"/>
                </a:lnTo>
                <a:lnTo>
                  <a:pt x="0" y="881684"/>
                </a:lnTo>
                <a:lnTo>
                  <a:pt x="0" y="0"/>
                </a:lnTo>
                <a:close/>
              </a:path>
            </a:pathLst>
          </a:custGeom>
          <a:blipFill>
            <a:blip r:embed="rId3"/>
            <a:stretch>
              <a:fillRect l="0" t="0" r="0" b="0"/>
            </a:stretch>
          </a:blipFill>
        </p:spPr>
      </p:sp>
      <p:sp>
        <p:nvSpPr>
          <p:cNvPr name="TextBox 7" id="7"/>
          <p:cNvSpPr txBox="true"/>
          <p:nvPr/>
        </p:nvSpPr>
        <p:spPr>
          <a:xfrm rot="0">
            <a:off x="1475672" y="1681184"/>
            <a:ext cx="8726952" cy="912915"/>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BACKGROUND</a:t>
            </a:r>
          </a:p>
        </p:txBody>
      </p:sp>
      <p:sp>
        <p:nvSpPr>
          <p:cNvPr name="TextBox 8" id="8"/>
          <p:cNvSpPr txBox="true"/>
          <p:nvPr/>
        </p:nvSpPr>
        <p:spPr>
          <a:xfrm rot="0">
            <a:off x="1475672" y="3605604"/>
            <a:ext cx="15336657" cy="4285591"/>
          </a:xfrm>
          <a:prstGeom prst="rect">
            <a:avLst/>
          </a:prstGeom>
        </p:spPr>
        <p:txBody>
          <a:bodyPr anchor="t" rtlCol="false" tIns="0" lIns="0" bIns="0" rIns="0">
            <a:spAutoFit/>
          </a:bodyPr>
          <a:lstStyle/>
          <a:p>
            <a:pPr algn="just" marL="653303" indent="-326651" lvl="1">
              <a:lnSpc>
                <a:spcPts val="4236"/>
              </a:lnSpc>
              <a:buFont typeface="Arial"/>
              <a:buChar char="•"/>
            </a:pPr>
            <a:r>
              <a:rPr lang="en-US" sz="3025">
                <a:solidFill>
                  <a:srgbClr val="000000"/>
                </a:solidFill>
                <a:latin typeface="Poppins"/>
                <a:ea typeface="Poppins"/>
                <a:cs typeface="Poppins"/>
                <a:sym typeface="Poppins"/>
              </a:rPr>
              <a:t>Rice (Oryza sativa L.) is a staple crop essential for food security.</a:t>
            </a:r>
          </a:p>
          <a:p>
            <a:pPr algn="just" marL="653303" indent="-326651" lvl="1">
              <a:lnSpc>
                <a:spcPts val="4236"/>
              </a:lnSpc>
              <a:buFont typeface="Arial"/>
              <a:buChar char="•"/>
            </a:pPr>
            <a:r>
              <a:rPr lang="en-US" sz="3025">
                <a:solidFill>
                  <a:srgbClr val="000000"/>
                </a:solidFill>
                <a:latin typeface="Poppins"/>
                <a:ea typeface="Poppins"/>
                <a:cs typeface="Poppins"/>
                <a:sym typeface="Poppins"/>
              </a:rPr>
              <a:t>Rice leaf diseases significantly reduce yield and crop quality.</a:t>
            </a:r>
          </a:p>
          <a:p>
            <a:pPr algn="just" marL="653303" indent="-326651" lvl="1">
              <a:lnSpc>
                <a:spcPts val="4236"/>
              </a:lnSpc>
              <a:buFont typeface="Arial"/>
              <a:buChar char="•"/>
            </a:pPr>
            <a:r>
              <a:rPr lang="en-US" sz="3025">
                <a:solidFill>
                  <a:srgbClr val="000000"/>
                </a:solidFill>
                <a:latin typeface="Poppins"/>
                <a:ea typeface="Poppins"/>
                <a:cs typeface="Poppins"/>
                <a:sym typeface="Poppins"/>
              </a:rPr>
              <a:t>Manual visual identification is subjective and error-prone.</a:t>
            </a:r>
          </a:p>
          <a:p>
            <a:pPr algn="just" marL="653303" indent="-326651" lvl="1">
              <a:lnSpc>
                <a:spcPts val="4236"/>
              </a:lnSpc>
              <a:buFont typeface="Arial"/>
              <a:buChar char="•"/>
            </a:pPr>
            <a:r>
              <a:rPr lang="en-US" sz="3025">
                <a:solidFill>
                  <a:srgbClr val="000000"/>
                </a:solidFill>
                <a:latin typeface="Poppins"/>
                <a:ea typeface="Poppins"/>
                <a:cs typeface="Poppins"/>
                <a:sym typeface="Poppins"/>
              </a:rPr>
              <a:t>Deep learning enables accurate image-based disease classification.</a:t>
            </a:r>
          </a:p>
          <a:p>
            <a:pPr algn="just" marL="653303" indent="-326651" lvl="1">
              <a:lnSpc>
                <a:spcPts val="4236"/>
              </a:lnSpc>
              <a:buFont typeface="Arial"/>
              <a:buChar char="•"/>
            </a:pPr>
            <a:r>
              <a:rPr lang="en-US" sz="3025">
                <a:solidFill>
                  <a:srgbClr val="000000"/>
                </a:solidFill>
                <a:latin typeface="Poppins"/>
                <a:ea typeface="Poppins"/>
                <a:cs typeface="Poppins"/>
                <a:sym typeface="Poppins"/>
              </a:rPr>
              <a:t>EfficientNetV2-M provides high accuracy with efficient computation.</a:t>
            </a:r>
          </a:p>
          <a:p>
            <a:pPr algn="just" marL="653303" indent="-326651" lvl="1">
              <a:lnSpc>
                <a:spcPts val="4236"/>
              </a:lnSpc>
              <a:spcBef>
                <a:spcPct val="0"/>
              </a:spcBef>
              <a:buFont typeface="Arial"/>
              <a:buChar char="•"/>
            </a:pPr>
            <a:r>
              <a:rPr lang="en-US" sz="3025">
                <a:solidFill>
                  <a:srgbClr val="000000"/>
                </a:solidFill>
                <a:latin typeface="Poppins"/>
                <a:ea typeface="Poppins"/>
                <a:cs typeface="Poppins"/>
                <a:sym typeface="Poppins"/>
              </a:rPr>
              <a:t>This study integrates EfficientNetV2-M into an offline mobile application for early disease detection.</a:t>
            </a:r>
          </a:p>
          <a:p>
            <a:pPr algn="just">
              <a:lnSpc>
                <a:spcPts val="4236"/>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8997950"/>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004AAD"/>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2379638" y="587858"/>
            <a:ext cx="4879662" cy="881683"/>
          </a:xfrm>
          <a:custGeom>
            <a:avLst/>
            <a:gdLst/>
            <a:ahLst/>
            <a:cxnLst/>
            <a:rect r="r" b="b" t="t" l="l"/>
            <a:pathLst>
              <a:path h="881683" w="4879662">
                <a:moveTo>
                  <a:pt x="0" y="0"/>
                </a:moveTo>
                <a:lnTo>
                  <a:pt x="4879662" y="0"/>
                </a:lnTo>
                <a:lnTo>
                  <a:pt x="4879662" y="881684"/>
                </a:lnTo>
                <a:lnTo>
                  <a:pt x="0" y="881684"/>
                </a:lnTo>
                <a:lnTo>
                  <a:pt x="0" y="0"/>
                </a:lnTo>
                <a:close/>
              </a:path>
            </a:pathLst>
          </a:custGeom>
          <a:blipFill>
            <a:blip r:embed="rId3"/>
            <a:stretch>
              <a:fillRect l="0" t="0" r="0" b="0"/>
            </a:stretch>
          </a:blipFill>
        </p:spPr>
      </p:sp>
      <p:sp>
        <p:nvSpPr>
          <p:cNvPr name="TextBox 7" id="7"/>
          <p:cNvSpPr txBox="true"/>
          <p:nvPr/>
        </p:nvSpPr>
        <p:spPr>
          <a:xfrm rot="0">
            <a:off x="1475672" y="1681184"/>
            <a:ext cx="8726952" cy="912915"/>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OBJECTIVES</a:t>
            </a:r>
          </a:p>
        </p:txBody>
      </p:sp>
      <p:sp>
        <p:nvSpPr>
          <p:cNvPr name="TextBox 8" id="8"/>
          <p:cNvSpPr txBox="true"/>
          <p:nvPr/>
        </p:nvSpPr>
        <p:spPr>
          <a:xfrm rot="0">
            <a:off x="1475672" y="4376825"/>
            <a:ext cx="15336657" cy="1618591"/>
          </a:xfrm>
          <a:prstGeom prst="rect">
            <a:avLst/>
          </a:prstGeom>
        </p:spPr>
        <p:txBody>
          <a:bodyPr anchor="t" rtlCol="false" tIns="0" lIns="0" bIns="0" rIns="0">
            <a:spAutoFit/>
          </a:bodyPr>
          <a:lstStyle/>
          <a:p>
            <a:pPr algn="just" marL="653303" indent="-326651" lvl="1">
              <a:lnSpc>
                <a:spcPts val="4236"/>
              </a:lnSpc>
              <a:buFont typeface="Arial"/>
              <a:buChar char="•"/>
            </a:pPr>
            <a:r>
              <a:rPr lang="en-US" sz="3025">
                <a:solidFill>
                  <a:srgbClr val="000000"/>
                </a:solidFill>
                <a:latin typeface="Poppins"/>
                <a:ea typeface="Poppins"/>
                <a:cs typeface="Poppins"/>
                <a:sym typeface="Poppins"/>
              </a:rPr>
              <a:t>To apply the EfficientNetV2-M algorithm for classifying rice leaf diseases.</a:t>
            </a:r>
          </a:p>
          <a:p>
            <a:pPr algn="just" marL="653303" indent="-326651" lvl="1">
              <a:lnSpc>
                <a:spcPts val="4236"/>
              </a:lnSpc>
              <a:spcBef>
                <a:spcPct val="0"/>
              </a:spcBef>
              <a:buFont typeface="Arial"/>
              <a:buChar char="•"/>
            </a:pPr>
            <a:r>
              <a:rPr lang="en-US" sz="3025">
                <a:solidFill>
                  <a:srgbClr val="000000"/>
                </a:solidFill>
                <a:latin typeface="Poppins"/>
                <a:ea typeface="Poppins"/>
                <a:cs typeface="Poppins"/>
                <a:sym typeface="Poppins"/>
              </a:rPr>
              <a:t>T</a:t>
            </a:r>
            <a:r>
              <a:rPr lang="en-US" sz="3025">
                <a:solidFill>
                  <a:srgbClr val="000000"/>
                </a:solidFill>
                <a:latin typeface="Poppins"/>
                <a:ea typeface="Poppins"/>
                <a:cs typeface="Poppins"/>
                <a:sym typeface="Poppins"/>
              </a:rPr>
              <a:t>o implement the classification model into a mobile application.</a:t>
            </a:r>
          </a:p>
          <a:p>
            <a:pPr algn="just">
              <a:lnSpc>
                <a:spcPts val="4236"/>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9050" y="0"/>
            <a:ext cx="4965770" cy="10287000"/>
            <a:chOff x="0" y="0"/>
            <a:chExt cx="1307857" cy="2709333"/>
          </a:xfrm>
        </p:grpSpPr>
        <p:sp>
          <p:nvSpPr>
            <p:cNvPr name="Freeform 4" id="4"/>
            <p:cNvSpPr/>
            <p:nvPr/>
          </p:nvSpPr>
          <p:spPr>
            <a:xfrm flipH="false" flipV="false" rot="0">
              <a:off x="0" y="0"/>
              <a:ext cx="1307857" cy="2709333"/>
            </a:xfrm>
            <a:custGeom>
              <a:avLst/>
              <a:gdLst/>
              <a:ahLst/>
              <a:cxnLst/>
              <a:rect r="r" b="b" t="t" l="l"/>
              <a:pathLst>
                <a:path h="2709333" w="1307857">
                  <a:moveTo>
                    <a:pt x="0" y="0"/>
                  </a:moveTo>
                  <a:lnTo>
                    <a:pt x="1307857" y="0"/>
                  </a:lnTo>
                  <a:lnTo>
                    <a:pt x="1307857" y="2709333"/>
                  </a:lnTo>
                  <a:lnTo>
                    <a:pt x="0" y="2709333"/>
                  </a:lnTo>
                  <a:close/>
                </a:path>
              </a:pathLst>
            </a:custGeom>
            <a:solidFill>
              <a:srgbClr val="004AAD"/>
            </a:solidFill>
          </p:spPr>
        </p:sp>
        <p:sp>
          <p:nvSpPr>
            <p:cNvPr name="TextBox 5" id="5"/>
            <p:cNvSpPr txBox="true"/>
            <p:nvPr/>
          </p:nvSpPr>
          <p:spPr>
            <a:xfrm>
              <a:off x="0" y="-47625"/>
              <a:ext cx="1307857" cy="275695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5446818" y="8363805"/>
            <a:ext cx="897167" cy="2183545"/>
            <a:chOff x="0" y="0"/>
            <a:chExt cx="236291" cy="575090"/>
          </a:xfrm>
        </p:grpSpPr>
        <p:sp>
          <p:nvSpPr>
            <p:cNvPr name="Freeform 7" id="7"/>
            <p:cNvSpPr/>
            <p:nvPr/>
          </p:nvSpPr>
          <p:spPr>
            <a:xfrm flipH="false" flipV="false" rot="0">
              <a:off x="0" y="0"/>
              <a:ext cx="236291" cy="575090"/>
            </a:xfrm>
            <a:custGeom>
              <a:avLst/>
              <a:gdLst/>
              <a:ahLst/>
              <a:cxnLst/>
              <a:rect r="r" b="b" t="t" l="l"/>
              <a:pathLst>
                <a:path h="575090" w="236291">
                  <a:moveTo>
                    <a:pt x="118145" y="0"/>
                  </a:moveTo>
                  <a:lnTo>
                    <a:pt x="118145" y="0"/>
                  </a:lnTo>
                  <a:cubicBezTo>
                    <a:pt x="183395" y="0"/>
                    <a:pt x="236291" y="52895"/>
                    <a:pt x="236291" y="118145"/>
                  </a:cubicBezTo>
                  <a:lnTo>
                    <a:pt x="236291" y="456945"/>
                  </a:lnTo>
                  <a:cubicBezTo>
                    <a:pt x="236291" y="488279"/>
                    <a:pt x="223843" y="518330"/>
                    <a:pt x="201687" y="540486"/>
                  </a:cubicBezTo>
                  <a:cubicBezTo>
                    <a:pt x="179530" y="562643"/>
                    <a:pt x="149480" y="575090"/>
                    <a:pt x="118145" y="575090"/>
                  </a:cubicBezTo>
                  <a:lnTo>
                    <a:pt x="118145" y="575090"/>
                  </a:lnTo>
                  <a:cubicBezTo>
                    <a:pt x="86811" y="575090"/>
                    <a:pt x="56761" y="562643"/>
                    <a:pt x="34604" y="540486"/>
                  </a:cubicBezTo>
                  <a:cubicBezTo>
                    <a:pt x="12447" y="518330"/>
                    <a:pt x="0" y="488279"/>
                    <a:pt x="0" y="456945"/>
                  </a:cubicBezTo>
                  <a:lnTo>
                    <a:pt x="0" y="118145"/>
                  </a:lnTo>
                  <a:cubicBezTo>
                    <a:pt x="0" y="86811"/>
                    <a:pt x="12447" y="56761"/>
                    <a:pt x="34604" y="34604"/>
                  </a:cubicBezTo>
                  <a:cubicBezTo>
                    <a:pt x="56761" y="12447"/>
                    <a:pt x="86811" y="0"/>
                    <a:pt x="118145" y="0"/>
                  </a:cubicBezTo>
                  <a:close/>
                </a:path>
              </a:pathLst>
            </a:custGeom>
            <a:solidFill>
              <a:srgbClr val="FFFFFF"/>
            </a:solidFill>
          </p:spPr>
        </p:sp>
        <p:sp>
          <p:nvSpPr>
            <p:cNvPr name="TextBox 8" id="8"/>
            <p:cNvSpPr txBox="true"/>
            <p:nvPr/>
          </p:nvSpPr>
          <p:spPr>
            <a:xfrm>
              <a:off x="0" y="-47625"/>
              <a:ext cx="236291" cy="62271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5446818" y="963625"/>
            <a:ext cx="12421909" cy="3209925"/>
          </a:xfrm>
          <a:prstGeom prst="rect">
            <a:avLst/>
          </a:prstGeom>
        </p:spPr>
        <p:txBody>
          <a:bodyPr anchor="t" rtlCol="false" tIns="0" lIns="0" bIns="0" rIns="0">
            <a:spAutoFit/>
          </a:bodyPr>
          <a:lstStyle/>
          <a:p>
            <a:pPr algn="just">
              <a:lnSpc>
                <a:spcPts val="4200"/>
              </a:lnSpc>
            </a:pPr>
            <a:r>
              <a:rPr lang="en-US" sz="3000" b="true">
                <a:solidFill>
                  <a:srgbClr val="000000"/>
                </a:solidFill>
                <a:latin typeface="Poppins Bold"/>
                <a:ea typeface="Poppins Bold"/>
                <a:cs typeface="Poppins Bold"/>
                <a:sym typeface="Poppins Bold"/>
              </a:rPr>
              <a:t>Main Problem</a:t>
            </a:r>
          </a:p>
          <a:p>
            <a:pPr algn="just">
              <a:lnSpc>
                <a:spcPts val="4200"/>
              </a:lnSpc>
              <a:spcBef>
                <a:spcPct val="0"/>
              </a:spcBef>
            </a:pPr>
            <a:r>
              <a:rPr lang="en-US" sz="3000">
                <a:solidFill>
                  <a:srgbClr val="000000"/>
                </a:solidFill>
                <a:latin typeface="Poppins"/>
                <a:ea typeface="Poppins"/>
                <a:cs typeface="Poppins"/>
                <a:sym typeface="Poppins"/>
              </a:rPr>
              <a:t>Rice farmers still identify rice leaf diseases manually through visual observation, which is prone to errors due to similar symptoms across diseases and limited access to agricultural experts. Misdiagnosis and delayed detection can lead to decreased crop productivity and quality.</a:t>
            </a:r>
          </a:p>
        </p:txBody>
      </p:sp>
      <p:sp>
        <p:nvSpPr>
          <p:cNvPr name="Freeform 10" id="10"/>
          <p:cNvSpPr/>
          <p:nvPr/>
        </p:nvSpPr>
        <p:spPr>
          <a:xfrm flipH="false" flipV="false" rot="0">
            <a:off x="12989065" y="89867"/>
            <a:ext cx="4879662" cy="881683"/>
          </a:xfrm>
          <a:custGeom>
            <a:avLst/>
            <a:gdLst/>
            <a:ahLst/>
            <a:cxnLst/>
            <a:rect r="r" b="b" t="t" l="l"/>
            <a:pathLst>
              <a:path h="881683" w="4879662">
                <a:moveTo>
                  <a:pt x="0" y="0"/>
                </a:moveTo>
                <a:lnTo>
                  <a:pt x="4879662" y="0"/>
                </a:lnTo>
                <a:lnTo>
                  <a:pt x="4879662" y="881683"/>
                </a:lnTo>
                <a:lnTo>
                  <a:pt x="0" y="881683"/>
                </a:lnTo>
                <a:lnTo>
                  <a:pt x="0" y="0"/>
                </a:lnTo>
                <a:close/>
              </a:path>
            </a:pathLst>
          </a:custGeom>
          <a:blipFill>
            <a:blip r:embed="rId3"/>
            <a:stretch>
              <a:fillRect l="0" t="0" r="0" b="0"/>
            </a:stretch>
          </a:blipFill>
        </p:spPr>
      </p:sp>
      <p:sp>
        <p:nvSpPr>
          <p:cNvPr name="TextBox 11" id="11"/>
          <p:cNvSpPr txBox="true"/>
          <p:nvPr/>
        </p:nvSpPr>
        <p:spPr>
          <a:xfrm rot="0">
            <a:off x="709411" y="3879457"/>
            <a:ext cx="3891956" cy="1144689"/>
          </a:xfrm>
          <a:prstGeom prst="rect">
            <a:avLst/>
          </a:prstGeom>
        </p:spPr>
        <p:txBody>
          <a:bodyPr anchor="t" rtlCol="false" tIns="0" lIns="0" bIns="0" rIns="0">
            <a:spAutoFit/>
          </a:bodyPr>
          <a:lstStyle/>
          <a:p>
            <a:pPr algn="l">
              <a:lnSpc>
                <a:spcPts val="4631"/>
              </a:lnSpc>
            </a:pPr>
            <a:r>
              <a:rPr lang="en-US" sz="3308">
                <a:solidFill>
                  <a:srgbClr val="FFFFFF"/>
                </a:solidFill>
                <a:latin typeface="League Spartan"/>
                <a:ea typeface="League Spartan"/>
                <a:cs typeface="League Spartan"/>
                <a:sym typeface="League Spartan"/>
              </a:rPr>
              <a:t>BUSINESS UNDERSTANDING</a:t>
            </a:r>
          </a:p>
        </p:txBody>
      </p:sp>
      <p:sp>
        <p:nvSpPr>
          <p:cNvPr name="TextBox 12" id="12"/>
          <p:cNvSpPr txBox="true"/>
          <p:nvPr/>
        </p:nvSpPr>
        <p:spPr>
          <a:xfrm rot="0">
            <a:off x="5446818" y="4325950"/>
            <a:ext cx="12421909" cy="2676525"/>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Poppins Bold"/>
                <a:ea typeface="Poppins Bold"/>
                <a:cs typeface="Poppins Bold"/>
                <a:sym typeface="Poppins Bold"/>
              </a:rPr>
              <a:t>Proposed Solution</a:t>
            </a:r>
          </a:p>
          <a:p>
            <a:pPr algn="l">
              <a:lnSpc>
                <a:spcPts val="4200"/>
              </a:lnSpc>
              <a:spcBef>
                <a:spcPct val="0"/>
              </a:spcBef>
            </a:pPr>
            <a:r>
              <a:rPr lang="en-US" sz="3000">
                <a:solidFill>
                  <a:srgbClr val="000000"/>
                </a:solidFill>
                <a:latin typeface="Poppins"/>
                <a:ea typeface="Poppins"/>
                <a:cs typeface="Poppins"/>
                <a:sym typeface="Poppins"/>
              </a:rPr>
              <a:t>A Flutter-based mobile application is developed to classify six rice leaf conditions using digital images and provide disease treatment recommendations, enabling farmers to obtain fast and practical preliminary diagnoses directly in the field.</a:t>
            </a:r>
          </a:p>
        </p:txBody>
      </p:sp>
      <p:sp>
        <p:nvSpPr>
          <p:cNvPr name="TextBox 13" id="13"/>
          <p:cNvSpPr txBox="true"/>
          <p:nvPr/>
        </p:nvSpPr>
        <p:spPr>
          <a:xfrm rot="0">
            <a:off x="5446818" y="7154875"/>
            <a:ext cx="12421909" cy="2143125"/>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Poppins Bold"/>
                <a:ea typeface="Poppins Bold"/>
                <a:cs typeface="Poppins Bold"/>
                <a:sym typeface="Poppins Bold"/>
              </a:rPr>
              <a:t>Key Benefits</a:t>
            </a:r>
          </a:p>
          <a:p>
            <a:pPr algn="l">
              <a:lnSpc>
                <a:spcPts val="4200"/>
              </a:lnSpc>
              <a:spcBef>
                <a:spcPct val="0"/>
              </a:spcBef>
            </a:pPr>
            <a:r>
              <a:rPr lang="en-US" sz="3000">
                <a:solidFill>
                  <a:srgbClr val="000000"/>
                </a:solidFill>
                <a:latin typeface="Poppins"/>
                <a:ea typeface="Poppins"/>
                <a:cs typeface="Poppins"/>
                <a:sym typeface="Poppins"/>
              </a:rPr>
              <a:t>The application helps farmers identify rice leaf diseases more quickly and accurately, supports early treatment decision-making, and contributes to maintaining agricultural productivit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8997950"/>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004AAD"/>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2379638" y="587858"/>
            <a:ext cx="4879662" cy="881683"/>
          </a:xfrm>
          <a:custGeom>
            <a:avLst/>
            <a:gdLst/>
            <a:ahLst/>
            <a:cxnLst/>
            <a:rect r="r" b="b" t="t" l="l"/>
            <a:pathLst>
              <a:path h="881683" w="4879662">
                <a:moveTo>
                  <a:pt x="0" y="0"/>
                </a:moveTo>
                <a:lnTo>
                  <a:pt x="4879662" y="0"/>
                </a:lnTo>
                <a:lnTo>
                  <a:pt x="4879662" y="881684"/>
                </a:lnTo>
                <a:lnTo>
                  <a:pt x="0" y="881684"/>
                </a:lnTo>
                <a:lnTo>
                  <a:pt x="0" y="0"/>
                </a:lnTo>
                <a:close/>
              </a:path>
            </a:pathLst>
          </a:custGeom>
          <a:blipFill>
            <a:blip r:embed="rId3"/>
            <a:stretch>
              <a:fillRect l="0" t="0" r="0" b="0"/>
            </a:stretch>
          </a:blipFill>
        </p:spPr>
      </p:sp>
      <p:sp>
        <p:nvSpPr>
          <p:cNvPr name="TextBox 7" id="7"/>
          <p:cNvSpPr txBox="true"/>
          <p:nvPr/>
        </p:nvSpPr>
        <p:spPr>
          <a:xfrm rot="0">
            <a:off x="1475672" y="1681184"/>
            <a:ext cx="8726952" cy="912915"/>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DATA ANDERSTANDING</a:t>
            </a:r>
          </a:p>
        </p:txBody>
      </p:sp>
      <p:sp>
        <p:nvSpPr>
          <p:cNvPr name="TextBox 8" id="8"/>
          <p:cNvSpPr txBox="true"/>
          <p:nvPr/>
        </p:nvSpPr>
        <p:spPr>
          <a:xfrm rot="0">
            <a:off x="1475672" y="2813174"/>
            <a:ext cx="15336657" cy="5352391"/>
          </a:xfrm>
          <a:prstGeom prst="rect">
            <a:avLst/>
          </a:prstGeom>
        </p:spPr>
        <p:txBody>
          <a:bodyPr anchor="t" rtlCol="false" tIns="0" lIns="0" bIns="0" rIns="0">
            <a:spAutoFit/>
          </a:bodyPr>
          <a:lstStyle/>
          <a:p>
            <a:pPr algn="just" marL="653303" indent="-326651" lvl="1">
              <a:lnSpc>
                <a:spcPts val="4236"/>
              </a:lnSpc>
              <a:buFont typeface="Arial"/>
              <a:buChar char="•"/>
            </a:pPr>
            <a:r>
              <a:rPr lang="en-US" sz="3025">
                <a:solidFill>
                  <a:srgbClr val="000000"/>
                </a:solidFill>
                <a:latin typeface="Poppins"/>
                <a:ea typeface="Poppins"/>
                <a:cs typeface="Poppins"/>
                <a:sym typeface="Poppins"/>
              </a:rPr>
              <a:t>Data Source: Rice leaf image dataset obtained from Kaggle</a:t>
            </a:r>
          </a:p>
          <a:p>
            <a:pPr algn="just" marL="653303" indent="-326651" lvl="1">
              <a:lnSpc>
                <a:spcPts val="4236"/>
              </a:lnSpc>
              <a:buFont typeface="Arial"/>
              <a:buChar char="•"/>
            </a:pPr>
            <a:r>
              <a:rPr lang="en-US" sz="3025">
                <a:solidFill>
                  <a:srgbClr val="000000"/>
                </a:solidFill>
                <a:latin typeface="Poppins"/>
                <a:ea typeface="Poppins"/>
                <a:cs typeface="Poppins"/>
                <a:sym typeface="Poppins"/>
              </a:rPr>
              <a:t>Data Type: Digital RGB images of rice leaves</a:t>
            </a:r>
          </a:p>
          <a:p>
            <a:pPr algn="just" marL="653303" indent="-326651" lvl="1">
              <a:lnSpc>
                <a:spcPts val="4236"/>
              </a:lnSpc>
              <a:buFont typeface="Arial"/>
              <a:buChar char="•"/>
            </a:pPr>
            <a:r>
              <a:rPr lang="en-US" sz="3025">
                <a:solidFill>
                  <a:srgbClr val="000000"/>
                </a:solidFill>
                <a:latin typeface="Poppins"/>
                <a:ea typeface="Poppins"/>
                <a:cs typeface="Poppins"/>
                <a:sym typeface="Poppins"/>
              </a:rPr>
              <a:t>Dataset Size: Approximately 6,000 images with balanced class distribution</a:t>
            </a:r>
          </a:p>
          <a:p>
            <a:pPr algn="just" marL="653303" indent="-326651" lvl="1">
              <a:lnSpc>
                <a:spcPts val="4236"/>
              </a:lnSpc>
              <a:buFont typeface="Arial"/>
              <a:buChar char="•"/>
            </a:pPr>
            <a:r>
              <a:rPr lang="en-US" sz="3025">
                <a:solidFill>
                  <a:srgbClr val="000000"/>
                </a:solidFill>
                <a:latin typeface="Poppins"/>
                <a:ea typeface="Poppins"/>
                <a:cs typeface="Poppins"/>
                <a:sym typeface="Poppins"/>
              </a:rPr>
              <a:t>Data Classes: Six rice leaf conditions (Healthy, Bacterial Leaf Blight, Leaf Blast, Brown Spot, Sheath Blight, Narrow Brown Spot)</a:t>
            </a:r>
          </a:p>
          <a:p>
            <a:pPr algn="just" marL="653303" indent="-326651" lvl="1">
              <a:lnSpc>
                <a:spcPts val="4236"/>
              </a:lnSpc>
              <a:buFont typeface="Arial"/>
              <a:buChar char="•"/>
            </a:pPr>
            <a:r>
              <a:rPr lang="en-US" sz="3025">
                <a:solidFill>
                  <a:srgbClr val="000000"/>
                </a:solidFill>
                <a:latin typeface="Poppins"/>
                <a:ea typeface="Poppins"/>
                <a:cs typeface="Poppins"/>
                <a:sym typeface="Poppins"/>
              </a:rPr>
              <a:t>Data Ch</a:t>
            </a:r>
            <a:r>
              <a:rPr lang="en-US" sz="3025">
                <a:solidFill>
                  <a:srgbClr val="000000"/>
                </a:solidFill>
                <a:latin typeface="Poppins"/>
                <a:ea typeface="Poppins"/>
                <a:cs typeface="Poppins"/>
                <a:sym typeface="Poppins"/>
              </a:rPr>
              <a:t>aracteristics: Variations in color, texture, lesion patterns, severity levels, lighting, and backgrounds</a:t>
            </a:r>
          </a:p>
          <a:p>
            <a:pPr algn="just" marL="653303" indent="-326651" lvl="1">
              <a:lnSpc>
                <a:spcPts val="4236"/>
              </a:lnSpc>
              <a:buFont typeface="Arial"/>
              <a:buChar char="•"/>
            </a:pPr>
            <a:r>
              <a:rPr lang="en-US" sz="3025">
                <a:solidFill>
                  <a:srgbClr val="000000"/>
                </a:solidFill>
                <a:latin typeface="Poppins"/>
                <a:ea typeface="Poppins"/>
                <a:cs typeface="Poppins"/>
                <a:sym typeface="Poppins"/>
              </a:rPr>
              <a:t>D</a:t>
            </a:r>
            <a:r>
              <a:rPr lang="en-US" sz="3025">
                <a:solidFill>
                  <a:srgbClr val="000000"/>
                </a:solidFill>
                <a:latin typeface="Poppins"/>
                <a:ea typeface="Poppins"/>
                <a:cs typeface="Poppins"/>
                <a:sym typeface="Poppins"/>
              </a:rPr>
              <a:t>ata Challenges: Similar visual symptoms across diseases and inconsistent image quality</a:t>
            </a:r>
          </a:p>
          <a:p>
            <a:pPr algn="just">
              <a:lnSpc>
                <a:spcPts val="4236"/>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9521015"/>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004AAD"/>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240641" y="1255705"/>
            <a:ext cx="6294884" cy="8674100"/>
            <a:chOff x="0" y="0"/>
            <a:chExt cx="1657912" cy="2284537"/>
          </a:xfrm>
        </p:grpSpPr>
        <p:sp>
          <p:nvSpPr>
            <p:cNvPr name="Freeform 7" id="7"/>
            <p:cNvSpPr/>
            <p:nvPr/>
          </p:nvSpPr>
          <p:spPr>
            <a:xfrm flipH="false" flipV="false" rot="0">
              <a:off x="0" y="0"/>
              <a:ext cx="1657912" cy="2284537"/>
            </a:xfrm>
            <a:custGeom>
              <a:avLst/>
              <a:gdLst/>
              <a:ahLst/>
              <a:cxnLst/>
              <a:rect r="r" b="b" t="t" l="l"/>
              <a:pathLst>
                <a:path h="2284537" w="1657912">
                  <a:moveTo>
                    <a:pt x="62724" y="0"/>
                  </a:moveTo>
                  <a:lnTo>
                    <a:pt x="1595188" y="0"/>
                  </a:lnTo>
                  <a:cubicBezTo>
                    <a:pt x="1611824" y="0"/>
                    <a:pt x="1627778" y="6608"/>
                    <a:pt x="1639541" y="18371"/>
                  </a:cubicBezTo>
                  <a:cubicBezTo>
                    <a:pt x="1651304" y="30134"/>
                    <a:pt x="1657912" y="46088"/>
                    <a:pt x="1657912" y="62724"/>
                  </a:cubicBezTo>
                  <a:lnTo>
                    <a:pt x="1657912" y="2221813"/>
                  </a:lnTo>
                  <a:cubicBezTo>
                    <a:pt x="1657912" y="2256454"/>
                    <a:pt x="1629830" y="2284537"/>
                    <a:pt x="1595188" y="2284537"/>
                  </a:cubicBezTo>
                  <a:lnTo>
                    <a:pt x="62724" y="2284537"/>
                  </a:lnTo>
                  <a:cubicBezTo>
                    <a:pt x="46088" y="2284537"/>
                    <a:pt x="30134" y="2277928"/>
                    <a:pt x="18371" y="2266165"/>
                  </a:cubicBezTo>
                  <a:cubicBezTo>
                    <a:pt x="6608" y="2254403"/>
                    <a:pt x="0" y="2238448"/>
                    <a:pt x="0" y="2221813"/>
                  </a:cubicBezTo>
                  <a:lnTo>
                    <a:pt x="0" y="62724"/>
                  </a:lnTo>
                  <a:cubicBezTo>
                    <a:pt x="0" y="46088"/>
                    <a:pt x="6608" y="30134"/>
                    <a:pt x="18371" y="18371"/>
                  </a:cubicBezTo>
                  <a:cubicBezTo>
                    <a:pt x="30134" y="6608"/>
                    <a:pt x="46088" y="0"/>
                    <a:pt x="62724" y="0"/>
                  </a:cubicBezTo>
                  <a:close/>
                </a:path>
              </a:pathLst>
            </a:custGeom>
            <a:solidFill>
              <a:srgbClr val="004AAD"/>
            </a:solidFill>
          </p:spPr>
        </p:sp>
        <p:sp>
          <p:nvSpPr>
            <p:cNvPr name="TextBox 8" id="8"/>
            <p:cNvSpPr txBox="true"/>
            <p:nvPr/>
          </p:nvSpPr>
          <p:spPr>
            <a:xfrm>
              <a:off x="0" y="-47625"/>
              <a:ext cx="1657912" cy="233216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0533589" y="2473701"/>
            <a:ext cx="1458184" cy="145818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0601084" y="4899149"/>
            <a:ext cx="1458184" cy="1458184"/>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4" id="14"/>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0511549" y="6982621"/>
            <a:ext cx="1458184" cy="1458184"/>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7" id="17"/>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13670955" y="143358"/>
            <a:ext cx="4370165" cy="837759"/>
          </a:xfrm>
          <a:custGeom>
            <a:avLst/>
            <a:gdLst/>
            <a:ahLst/>
            <a:cxnLst/>
            <a:rect r="r" b="b" t="t" l="l"/>
            <a:pathLst>
              <a:path h="837759" w="4370165">
                <a:moveTo>
                  <a:pt x="0" y="0"/>
                </a:moveTo>
                <a:lnTo>
                  <a:pt x="4370165" y="0"/>
                </a:lnTo>
                <a:lnTo>
                  <a:pt x="4370165" y="837760"/>
                </a:lnTo>
                <a:lnTo>
                  <a:pt x="0" y="837760"/>
                </a:lnTo>
                <a:lnTo>
                  <a:pt x="0" y="0"/>
                </a:lnTo>
                <a:close/>
              </a:path>
            </a:pathLst>
          </a:custGeom>
          <a:blipFill>
            <a:blip r:embed="rId3"/>
            <a:stretch>
              <a:fillRect l="-3047" t="0" r="-3047" b="0"/>
            </a:stretch>
          </a:blipFill>
        </p:spPr>
      </p:sp>
      <p:sp>
        <p:nvSpPr>
          <p:cNvPr name="TextBox 19" id="19"/>
          <p:cNvSpPr txBox="true"/>
          <p:nvPr/>
        </p:nvSpPr>
        <p:spPr>
          <a:xfrm rot="0">
            <a:off x="1028700" y="818933"/>
            <a:ext cx="6965099" cy="787820"/>
          </a:xfrm>
          <a:prstGeom prst="rect">
            <a:avLst/>
          </a:prstGeom>
        </p:spPr>
        <p:txBody>
          <a:bodyPr anchor="t" rtlCol="false" tIns="0" lIns="0" bIns="0" rIns="0">
            <a:spAutoFit/>
          </a:bodyPr>
          <a:lstStyle/>
          <a:p>
            <a:pPr algn="l">
              <a:lnSpc>
                <a:spcPts val="6451"/>
              </a:lnSpc>
            </a:pPr>
            <a:r>
              <a:rPr lang="en-US" b="true" sz="4608">
                <a:solidFill>
                  <a:srgbClr val="004AAD"/>
                </a:solidFill>
                <a:latin typeface="League Spartan"/>
                <a:ea typeface="League Spartan"/>
                <a:cs typeface="League Spartan"/>
                <a:sym typeface="League Spartan"/>
              </a:rPr>
              <a:t>DATA PREPARATION</a:t>
            </a:r>
          </a:p>
        </p:txBody>
      </p:sp>
      <p:sp>
        <p:nvSpPr>
          <p:cNvPr name="TextBox 20" id="20"/>
          <p:cNvSpPr txBox="true"/>
          <p:nvPr/>
        </p:nvSpPr>
        <p:spPr>
          <a:xfrm rot="0">
            <a:off x="208478" y="2088799"/>
            <a:ext cx="10303071" cy="7151370"/>
          </a:xfrm>
          <a:prstGeom prst="rect">
            <a:avLst/>
          </a:prstGeom>
        </p:spPr>
        <p:txBody>
          <a:bodyPr anchor="t" rtlCol="false" tIns="0" lIns="0" bIns="0" rIns="0">
            <a:spAutoFit/>
          </a:bodyPr>
          <a:lstStyle/>
          <a:p>
            <a:pPr algn="just" marL="582930" indent="-291465" lvl="1">
              <a:lnSpc>
                <a:spcPts val="3779"/>
              </a:lnSpc>
              <a:buFont typeface="Arial"/>
              <a:buChar char="•"/>
            </a:pPr>
            <a:r>
              <a:rPr lang="en-US" b="true" sz="2700">
                <a:solidFill>
                  <a:srgbClr val="000000"/>
                </a:solidFill>
                <a:latin typeface="Poppins Bold"/>
                <a:ea typeface="Poppins Bold"/>
                <a:cs typeface="Poppins Bold"/>
                <a:sym typeface="Poppins Bold"/>
              </a:rPr>
              <a:t>Data Labeling</a:t>
            </a:r>
          </a:p>
          <a:p>
            <a:pPr algn="just">
              <a:lnSpc>
                <a:spcPts val="3779"/>
              </a:lnSpc>
            </a:pPr>
            <a:r>
              <a:rPr lang="en-US" sz="2700">
                <a:solidFill>
                  <a:srgbClr val="000000"/>
                </a:solidFill>
                <a:latin typeface="Poppins"/>
                <a:ea typeface="Poppins"/>
                <a:cs typeface="Poppins"/>
                <a:sym typeface="Poppins"/>
              </a:rPr>
              <a:t>Each rice leaf image is manually labeled into one of six classes: Healthy, Bacterial Leaf Blight, Leaf Blast, Brown Spot, Sheath Blight, and Narrow Brown Spot to ensure correct ground truth for model training.</a:t>
            </a:r>
          </a:p>
          <a:p>
            <a:pPr algn="just" marL="582930" indent="-291465" lvl="1">
              <a:lnSpc>
                <a:spcPts val="3779"/>
              </a:lnSpc>
              <a:buFont typeface="Arial"/>
              <a:buChar char="•"/>
            </a:pPr>
            <a:r>
              <a:rPr lang="en-US" b="true" sz="2700">
                <a:solidFill>
                  <a:srgbClr val="000000"/>
                </a:solidFill>
                <a:latin typeface="Poppins Bold"/>
                <a:ea typeface="Poppins Bold"/>
                <a:cs typeface="Poppins Bold"/>
                <a:sym typeface="Poppins Bold"/>
              </a:rPr>
              <a:t>Data Splitting</a:t>
            </a:r>
          </a:p>
          <a:p>
            <a:pPr algn="just">
              <a:lnSpc>
                <a:spcPts val="3779"/>
              </a:lnSpc>
            </a:pPr>
            <a:r>
              <a:rPr lang="en-US" sz="2700">
                <a:solidFill>
                  <a:srgbClr val="000000"/>
                </a:solidFill>
                <a:latin typeface="Poppins"/>
                <a:ea typeface="Poppins"/>
                <a:cs typeface="Poppins"/>
                <a:sym typeface="Poppins"/>
              </a:rPr>
              <a:t>The dataset is divided into training (80%), validation (10%), and testing (10%) sets to support model learning, performance monitoring, and final evaluation.</a:t>
            </a:r>
          </a:p>
          <a:p>
            <a:pPr algn="just" marL="582930" indent="-291465" lvl="1">
              <a:lnSpc>
                <a:spcPts val="3779"/>
              </a:lnSpc>
              <a:buFont typeface="Arial"/>
              <a:buChar char="•"/>
            </a:pPr>
            <a:r>
              <a:rPr lang="en-US" b="true" sz="2700">
                <a:solidFill>
                  <a:srgbClr val="000000"/>
                </a:solidFill>
                <a:latin typeface="Poppins Bold"/>
                <a:ea typeface="Poppins Bold"/>
                <a:cs typeface="Poppins Bold"/>
                <a:sym typeface="Poppins Bold"/>
              </a:rPr>
              <a:t>Data Augmentation</a:t>
            </a:r>
          </a:p>
          <a:p>
            <a:pPr algn="just">
              <a:lnSpc>
                <a:spcPts val="3779"/>
              </a:lnSpc>
              <a:spcBef>
                <a:spcPct val="0"/>
              </a:spcBef>
            </a:pPr>
            <a:r>
              <a:rPr lang="en-US" sz="2700">
                <a:solidFill>
                  <a:srgbClr val="000000"/>
                </a:solidFill>
                <a:latin typeface="Poppins"/>
                <a:ea typeface="Poppins"/>
                <a:cs typeface="Poppins"/>
                <a:sym typeface="Poppins"/>
              </a:rPr>
              <a:t>Image augmentation techniques such as rotation, flipping, zooming, translation, and brightness adjustment are applied to increase data diversity and improve model generalization.</a:t>
            </a:r>
          </a:p>
          <a:p>
            <a:pPr algn="just">
              <a:lnSpc>
                <a:spcPts val="3779"/>
              </a:lnSpc>
              <a:spcBef>
                <a:spcPct val="0"/>
              </a:spcBef>
            </a:pPr>
          </a:p>
        </p:txBody>
      </p:sp>
      <p:sp>
        <p:nvSpPr>
          <p:cNvPr name="TextBox 21" id="21"/>
          <p:cNvSpPr txBox="true"/>
          <p:nvPr/>
        </p:nvSpPr>
        <p:spPr>
          <a:xfrm rot="0">
            <a:off x="10623124" y="2708378"/>
            <a:ext cx="1279113" cy="1038083"/>
          </a:xfrm>
          <a:prstGeom prst="rect">
            <a:avLst/>
          </a:prstGeom>
        </p:spPr>
        <p:txBody>
          <a:bodyPr anchor="t" rtlCol="false" tIns="0" lIns="0" bIns="0" rIns="0">
            <a:spAutoFit/>
          </a:bodyPr>
          <a:lstStyle/>
          <a:p>
            <a:pPr algn="ctr">
              <a:lnSpc>
                <a:spcPts val="8587"/>
              </a:lnSpc>
            </a:pPr>
            <a:r>
              <a:rPr lang="en-US" sz="6134">
                <a:solidFill>
                  <a:srgbClr val="000000"/>
                </a:solidFill>
                <a:latin typeface="League Spartan"/>
                <a:ea typeface="League Spartan"/>
                <a:cs typeface="League Spartan"/>
                <a:sym typeface="League Spartan"/>
              </a:rPr>
              <a:t>1</a:t>
            </a:r>
          </a:p>
        </p:txBody>
      </p:sp>
      <p:sp>
        <p:nvSpPr>
          <p:cNvPr name="TextBox 22" id="22"/>
          <p:cNvSpPr txBox="true"/>
          <p:nvPr/>
        </p:nvSpPr>
        <p:spPr>
          <a:xfrm rot="0">
            <a:off x="10690619" y="5126392"/>
            <a:ext cx="1279113" cy="1038083"/>
          </a:xfrm>
          <a:prstGeom prst="rect">
            <a:avLst/>
          </a:prstGeom>
        </p:spPr>
        <p:txBody>
          <a:bodyPr anchor="t" rtlCol="false" tIns="0" lIns="0" bIns="0" rIns="0">
            <a:spAutoFit/>
          </a:bodyPr>
          <a:lstStyle/>
          <a:p>
            <a:pPr algn="ctr">
              <a:lnSpc>
                <a:spcPts val="8587"/>
              </a:lnSpc>
            </a:pPr>
            <a:r>
              <a:rPr lang="en-US" b="true" sz="6134">
                <a:solidFill>
                  <a:srgbClr val="000000"/>
                </a:solidFill>
                <a:latin typeface="League Spartan"/>
                <a:ea typeface="League Spartan"/>
                <a:cs typeface="League Spartan"/>
                <a:sym typeface="League Spartan"/>
              </a:rPr>
              <a:t>2</a:t>
            </a:r>
          </a:p>
        </p:txBody>
      </p:sp>
      <p:sp>
        <p:nvSpPr>
          <p:cNvPr name="TextBox 23" id="23"/>
          <p:cNvSpPr txBox="true"/>
          <p:nvPr/>
        </p:nvSpPr>
        <p:spPr>
          <a:xfrm rot="0">
            <a:off x="10601084" y="7210297"/>
            <a:ext cx="1279113" cy="1038083"/>
          </a:xfrm>
          <a:prstGeom prst="rect">
            <a:avLst/>
          </a:prstGeom>
        </p:spPr>
        <p:txBody>
          <a:bodyPr anchor="t" rtlCol="false" tIns="0" lIns="0" bIns="0" rIns="0">
            <a:spAutoFit/>
          </a:bodyPr>
          <a:lstStyle/>
          <a:p>
            <a:pPr algn="ctr">
              <a:lnSpc>
                <a:spcPts val="8587"/>
              </a:lnSpc>
            </a:pPr>
            <a:r>
              <a:rPr lang="en-US" sz="6134">
                <a:solidFill>
                  <a:srgbClr val="000000"/>
                </a:solidFill>
                <a:latin typeface="League Spartan"/>
                <a:ea typeface="League Spartan"/>
                <a:cs typeface="League Spartan"/>
                <a:sym typeface="League Spartan"/>
              </a:rPr>
              <a:t>3</a:t>
            </a:r>
          </a:p>
        </p:txBody>
      </p:sp>
      <p:sp>
        <p:nvSpPr>
          <p:cNvPr name="TextBox 24" id="24"/>
          <p:cNvSpPr txBox="true"/>
          <p:nvPr/>
        </p:nvSpPr>
        <p:spPr>
          <a:xfrm rot="0">
            <a:off x="12679434" y="2803378"/>
            <a:ext cx="4856091" cy="684531"/>
          </a:xfrm>
          <a:prstGeom prst="rect">
            <a:avLst/>
          </a:prstGeom>
        </p:spPr>
        <p:txBody>
          <a:bodyPr anchor="t" rtlCol="false" tIns="0" lIns="0" bIns="0" rIns="0">
            <a:spAutoFit/>
          </a:bodyPr>
          <a:lstStyle/>
          <a:p>
            <a:pPr algn="l">
              <a:lnSpc>
                <a:spcPts val="5319"/>
              </a:lnSpc>
              <a:spcBef>
                <a:spcPct val="0"/>
              </a:spcBef>
            </a:pPr>
            <a:r>
              <a:rPr lang="en-US" sz="3799" b="true">
                <a:solidFill>
                  <a:srgbClr val="FFFFFF"/>
                </a:solidFill>
                <a:latin typeface="Poppins Bold"/>
                <a:ea typeface="Poppins Bold"/>
                <a:cs typeface="Poppins Bold"/>
                <a:sym typeface="Poppins Bold"/>
              </a:rPr>
              <a:t>Data Labeling</a:t>
            </a:r>
          </a:p>
        </p:txBody>
      </p:sp>
      <p:sp>
        <p:nvSpPr>
          <p:cNvPr name="TextBox 25" id="25"/>
          <p:cNvSpPr txBox="true"/>
          <p:nvPr/>
        </p:nvSpPr>
        <p:spPr>
          <a:xfrm rot="0">
            <a:off x="12679434" y="5303169"/>
            <a:ext cx="4856091" cy="684530"/>
          </a:xfrm>
          <a:prstGeom prst="rect">
            <a:avLst/>
          </a:prstGeom>
        </p:spPr>
        <p:txBody>
          <a:bodyPr anchor="t" rtlCol="false" tIns="0" lIns="0" bIns="0" rIns="0">
            <a:spAutoFit/>
          </a:bodyPr>
          <a:lstStyle/>
          <a:p>
            <a:pPr algn="l">
              <a:lnSpc>
                <a:spcPts val="5319"/>
              </a:lnSpc>
              <a:spcBef>
                <a:spcPct val="0"/>
              </a:spcBef>
            </a:pPr>
            <a:r>
              <a:rPr lang="en-US" sz="3799" b="true">
                <a:solidFill>
                  <a:srgbClr val="FFFFFF"/>
                </a:solidFill>
                <a:latin typeface="Poppins Bold"/>
                <a:ea typeface="Poppins Bold"/>
                <a:cs typeface="Poppins Bold"/>
                <a:sym typeface="Poppins Bold"/>
              </a:rPr>
              <a:t>Data Splitting</a:t>
            </a:r>
          </a:p>
        </p:txBody>
      </p:sp>
      <p:sp>
        <p:nvSpPr>
          <p:cNvPr name="TextBox 26" id="26"/>
          <p:cNvSpPr txBox="true"/>
          <p:nvPr/>
        </p:nvSpPr>
        <p:spPr>
          <a:xfrm rot="0">
            <a:off x="12679434" y="7053699"/>
            <a:ext cx="4856091" cy="1351280"/>
          </a:xfrm>
          <a:prstGeom prst="rect">
            <a:avLst/>
          </a:prstGeom>
        </p:spPr>
        <p:txBody>
          <a:bodyPr anchor="t" rtlCol="false" tIns="0" lIns="0" bIns="0" rIns="0">
            <a:spAutoFit/>
          </a:bodyPr>
          <a:lstStyle/>
          <a:p>
            <a:pPr algn="l">
              <a:lnSpc>
                <a:spcPts val="5320"/>
              </a:lnSpc>
              <a:spcBef>
                <a:spcPct val="0"/>
              </a:spcBef>
            </a:pPr>
            <a:r>
              <a:rPr lang="en-US" sz="3800" b="true">
                <a:solidFill>
                  <a:srgbClr val="FFFFFF"/>
                </a:solidFill>
                <a:latin typeface="Poppins Bold"/>
                <a:ea typeface="Poppins Bold"/>
                <a:cs typeface="Poppins Bold"/>
                <a:sym typeface="Poppins Bold"/>
              </a:rPr>
              <a:t>Data Augmentation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982450" y="8997950"/>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8B8B8B"/>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3239750" y="70817"/>
            <a:ext cx="4879662" cy="881683"/>
          </a:xfrm>
          <a:custGeom>
            <a:avLst/>
            <a:gdLst/>
            <a:ahLst/>
            <a:cxnLst/>
            <a:rect r="r" b="b" t="t" l="l"/>
            <a:pathLst>
              <a:path h="881683" w="4879662">
                <a:moveTo>
                  <a:pt x="0" y="0"/>
                </a:moveTo>
                <a:lnTo>
                  <a:pt x="4879662" y="0"/>
                </a:lnTo>
                <a:lnTo>
                  <a:pt x="4879662" y="881683"/>
                </a:lnTo>
                <a:lnTo>
                  <a:pt x="0" y="881683"/>
                </a:lnTo>
                <a:lnTo>
                  <a:pt x="0" y="0"/>
                </a:lnTo>
                <a:close/>
              </a:path>
            </a:pathLst>
          </a:custGeom>
          <a:blipFill>
            <a:blip r:embed="rId3"/>
            <a:stretch>
              <a:fillRect l="0" t="0" r="0" b="0"/>
            </a:stretch>
          </a:blipFill>
        </p:spPr>
      </p:sp>
      <p:sp>
        <p:nvSpPr>
          <p:cNvPr name="TextBox 7" id="7"/>
          <p:cNvSpPr txBox="true"/>
          <p:nvPr/>
        </p:nvSpPr>
        <p:spPr>
          <a:xfrm rot="0">
            <a:off x="1028700" y="278230"/>
            <a:ext cx="4842085" cy="897853"/>
          </a:xfrm>
          <a:prstGeom prst="rect">
            <a:avLst/>
          </a:prstGeom>
        </p:spPr>
        <p:txBody>
          <a:bodyPr anchor="t" rtlCol="false" tIns="0" lIns="0" bIns="0" rIns="0">
            <a:spAutoFit/>
          </a:bodyPr>
          <a:lstStyle/>
          <a:p>
            <a:pPr algn="l">
              <a:lnSpc>
                <a:spcPts val="7212"/>
              </a:lnSpc>
            </a:pPr>
            <a:r>
              <a:rPr lang="en-US" b="true" sz="5151">
                <a:solidFill>
                  <a:srgbClr val="626262"/>
                </a:solidFill>
                <a:latin typeface="Roboto Bold"/>
                <a:ea typeface="Roboto Bold"/>
                <a:cs typeface="Roboto Bold"/>
                <a:sym typeface="Roboto Bold"/>
              </a:rPr>
              <a:t>MODELING</a:t>
            </a:r>
          </a:p>
        </p:txBody>
      </p:sp>
      <p:sp>
        <p:nvSpPr>
          <p:cNvPr name="TextBox 8" id="8"/>
          <p:cNvSpPr txBox="true"/>
          <p:nvPr/>
        </p:nvSpPr>
        <p:spPr>
          <a:xfrm rot="0">
            <a:off x="4781653" y="1109408"/>
            <a:ext cx="13506347" cy="8328025"/>
          </a:xfrm>
          <a:prstGeom prst="rect">
            <a:avLst/>
          </a:prstGeom>
        </p:spPr>
        <p:txBody>
          <a:bodyPr anchor="t" rtlCol="false" tIns="0" lIns="0" bIns="0" rIns="0">
            <a:spAutoFit/>
          </a:bodyPr>
          <a:lstStyle/>
          <a:p>
            <a:pPr algn="just">
              <a:lnSpc>
                <a:spcPts val="3499"/>
              </a:lnSpc>
            </a:pPr>
            <a:r>
              <a:rPr lang="en-US" sz="2499" b="true">
                <a:solidFill>
                  <a:srgbClr val="626262"/>
                </a:solidFill>
                <a:latin typeface="Poppins Bold"/>
                <a:ea typeface="Poppins Bold"/>
                <a:cs typeface="Poppins Bold"/>
                <a:sym typeface="Poppins Bold"/>
              </a:rPr>
              <a:t>M</a:t>
            </a:r>
            <a:r>
              <a:rPr lang="en-US" b="true" sz="2499">
                <a:solidFill>
                  <a:srgbClr val="626262"/>
                </a:solidFill>
                <a:latin typeface="Poppins Bold"/>
                <a:ea typeface="Poppins Bold"/>
                <a:cs typeface="Poppins Bold"/>
                <a:sym typeface="Poppins Bold"/>
              </a:rPr>
              <a:t>odel Selection</a:t>
            </a:r>
          </a:p>
          <a:p>
            <a:pPr algn="just">
              <a:lnSpc>
                <a:spcPts val="3499"/>
              </a:lnSpc>
            </a:pPr>
            <a:r>
              <a:rPr lang="en-US" sz="2499">
                <a:solidFill>
                  <a:srgbClr val="626262"/>
                </a:solidFill>
                <a:latin typeface="Poppins"/>
                <a:ea typeface="Poppins"/>
                <a:cs typeface="Poppins"/>
                <a:sym typeface="Poppins"/>
              </a:rPr>
              <a:t>EfficientNetV2-M is selected due to its high accuracy, efficient computation, and suitability for mobile deployment.</a:t>
            </a:r>
          </a:p>
          <a:p>
            <a:pPr algn="just">
              <a:lnSpc>
                <a:spcPts val="3499"/>
              </a:lnSpc>
            </a:pPr>
            <a:r>
              <a:rPr lang="en-US" b="true" sz="2499">
                <a:solidFill>
                  <a:srgbClr val="626262"/>
                </a:solidFill>
                <a:latin typeface="Poppins Bold"/>
                <a:ea typeface="Poppins Bold"/>
                <a:cs typeface="Poppins Bold"/>
                <a:sym typeface="Poppins Bold"/>
              </a:rPr>
              <a:t>Transfer Learning</a:t>
            </a:r>
          </a:p>
          <a:p>
            <a:pPr algn="just">
              <a:lnSpc>
                <a:spcPts val="3499"/>
              </a:lnSpc>
            </a:pPr>
            <a:r>
              <a:rPr lang="en-US" sz="2499">
                <a:solidFill>
                  <a:srgbClr val="626262"/>
                </a:solidFill>
                <a:latin typeface="Poppins"/>
                <a:ea typeface="Poppins"/>
                <a:cs typeface="Poppins"/>
                <a:sym typeface="Poppins"/>
              </a:rPr>
              <a:t>The model uses pre-trained weights from ImageNet to leverage learned visual features and reduce training time.</a:t>
            </a:r>
          </a:p>
          <a:p>
            <a:pPr algn="just">
              <a:lnSpc>
                <a:spcPts val="3499"/>
              </a:lnSpc>
            </a:pPr>
            <a:r>
              <a:rPr lang="en-US" b="true" sz="2499">
                <a:solidFill>
                  <a:srgbClr val="626262"/>
                </a:solidFill>
                <a:latin typeface="Poppins Bold"/>
                <a:ea typeface="Poppins Bold"/>
                <a:cs typeface="Poppins Bold"/>
                <a:sym typeface="Poppins Bold"/>
              </a:rPr>
              <a:t>Feature Extraction</a:t>
            </a:r>
          </a:p>
          <a:p>
            <a:pPr algn="just">
              <a:lnSpc>
                <a:spcPts val="3499"/>
              </a:lnSpc>
            </a:pPr>
            <a:r>
              <a:rPr lang="en-US" sz="2499">
                <a:solidFill>
                  <a:srgbClr val="626262"/>
                </a:solidFill>
                <a:latin typeface="Poppins"/>
                <a:ea typeface="Poppins"/>
                <a:cs typeface="Poppins"/>
                <a:sym typeface="Poppins"/>
              </a:rPr>
              <a:t>The base EfficientNetV2-M layers are frozen, and a custom classification head is trained to learn rice leaf disease features.</a:t>
            </a:r>
          </a:p>
          <a:p>
            <a:pPr algn="just">
              <a:lnSpc>
                <a:spcPts val="3499"/>
              </a:lnSpc>
            </a:pPr>
            <a:r>
              <a:rPr lang="en-US" b="true" sz="2499">
                <a:solidFill>
                  <a:srgbClr val="626262"/>
                </a:solidFill>
                <a:latin typeface="Poppins Bold"/>
                <a:ea typeface="Poppins Bold"/>
                <a:cs typeface="Poppins Bold"/>
                <a:sym typeface="Poppins Bold"/>
              </a:rPr>
              <a:t>Fine-Tuning</a:t>
            </a:r>
          </a:p>
          <a:p>
            <a:pPr algn="just">
              <a:lnSpc>
                <a:spcPts val="3499"/>
              </a:lnSpc>
            </a:pPr>
            <a:r>
              <a:rPr lang="en-US" sz="2499">
                <a:solidFill>
                  <a:srgbClr val="626262"/>
                </a:solidFill>
                <a:latin typeface="Poppins"/>
                <a:ea typeface="Poppins"/>
                <a:cs typeface="Poppins"/>
                <a:sym typeface="Poppins"/>
              </a:rPr>
              <a:t>Selected deeper layers are unfrozen and retrained to improve classification performance on rice leaf images.</a:t>
            </a:r>
          </a:p>
          <a:p>
            <a:pPr algn="just">
              <a:lnSpc>
                <a:spcPts val="3499"/>
              </a:lnSpc>
            </a:pPr>
            <a:r>
              <a:rPr lang="en-US" b="true" sz="2499">
                <a:solidFill>
                  <a:srgbClr val="626262"/>
                </a:solidFill>
                <a:latin typeface="Poppins Bold"/>
                <a:ea typeface="Poppins Bold"/>
                <a:cs typeface="Poppins Bold"/>
                <a:sym typeface="Poppins Bold"/>
              </a:rPr>
              <a:t>Training Configuration</a:t>
            </a:r>
          </a:p>
          <a:p>
            <a:pPr algn="just">
              <a:lnSpc>
                <a:spcPts val="3499"/>
              </a:lnSpc>
            </a:pPr>
            <a:r>
              <a:rPr lang="en-US" sz="2499">
                <a:solidFill>
                  <a:srgbClr val="626262"/>
                </a:solidFill>
                <a:latin typeface="Poppins"/>
                <a:ea typeface="Poppins"/>
                <a:cs typeface="Poppins"/>
                <a:sym typeface="Poppins"/>
              </a:rPr>
              <a:t>The model is trained using the Adam optimizer, categorical cross-entropy loss, and early stopping to prevent overfitting.</a:t>
            </a:r>
          </a:p>
          <a:p>
            <a:pPr algn="just">
              <a:lnSpc>
                <a:spcPts val="3499"/>
              </a:lnSpc>
            </a:pPr>
            <a:r>
              <a:rPr lang="en-US" b="true" sz="2499">
                <a:solidFill>
                  <a:srgbClr val="626262"/>
                </a:solidFill>
                <a:latin typeface="Poppins Bold"/>
                <a:ea typeface="Poppins Bold"/>
                <a:cs typeface="Poppins Bold"/>
                <a:sym typeface="Poppins Bold"/>
              </a:rPr>
              <a:t>Model Output</a:t>
            </a:r>
          </a:p>
          <a:p>
            <a:pPr algn="just">
              <a:lnSpc>
                <a:spcPts val="3499"/>
              </a:lnSpc>
              <a:spcBef>
                <a:spcPct val="0"/>
              </a:spcBef>
            </a:pPr>
            <a:r>
              <a:rPr lang="en-US" sz="2499">
                <a:solidFill>
                  <a:srgbClr val="626262"/>
                </a:solidFill>
                <a:latin typeface="Poppins"/>
                <a:ea typeface="Poppins"/>
                <a:cs typeface="Poppins"/>
                <a:sym typeface="Poppins"/>
              </a:rPr>
              <a:t>The final model classifies six rice leaf conditions and is converted to TensorFlow Lite (TFLite) for mobile use.</a:t>
            </a:r>
          </a:p>
          <a:p>
            <a:pPr algn="just">
              <a:lnSpc>
                <a:spcPts val="3499"/>
              </a:lnSpc>
              <a:spcBef>
                <a:spcPct val="0"/>
              </a:spcBef>
            </a:pPr>
          </a:p>
        </p:txBody>
      </p:sp>
      <p:sp>
        <p:nvSpPr>
          <p:cNvPr name="Freeform 9" id="9"/>
          <p:cNvSpPr/>
          <p:nvPr/>
        </p:nvSpPr>
        <p:spPr>
          <a:xfrm flipH="false" flipV="false" rot="5400000">
            <a:off x="-1567956" y="3930036"/>
            <a:ext cx="8281846" cy="3374852"/>
          </a:xfrm>
          <a:custGeom>
            <a:avLst/>
            <a:gdLst/>
            <a:ahLst/>
            <a:cxnLst/>
            <a:rect r="r" b="b" t="t" l="l"/>
            <a:pathLst>
              <a:path h="3374852" w="8281846">
                <a:moveTo>
                  <a:pt x="0" y="0"/>
                </a:moveTo>
                <a:lnTo>
                  <a:pt x="8281845" y="0"/>
                </a:lnTo>
                <a:lnTo>
                  <a:pt x="8281845" y="3374852"/>
                </a:lnTo>
                <a:lnTo>
                  <a:pt x="0" y="3374852"/>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8997950"/>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004AAD"/>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2591469" y="445505"/>
            <a:ext cx="5464004" cy="987266"/>
          </a:xfrm>
          <a:custGeom>
            <a:avLst/>
            <a:gdLst/>
            <a:ahLst/>
            <a:cxnLst/>
            <a:rect r="r" b="b" t="t" l="l"/>
            <a:pathLst>
              <a:path h="987266" w="5464004">
                <a:moveTo>
                  <a:pt x="0" y="0"/>
                </a:moveTo>
                <a:lnTo>
                  <a:pt x="5464004" y="0"/>
                </a:lnTo>
                <a:lnTo>
                  <a:pt x="5464004" y="987265"/>
                </a:lnTo>
                <a:lnTo>
                  <a:pt x="0" y="987265"/>
                </a:lnTo>
                <a:lnTo>
                  <a:pt x="0" y="0"/>
                </a:lnTo>
                <a:close/>
              </a:path>
            </a:pathLst>
          </a:custGeom>
          <a:blipFill>
            <a:blip r:embed="rId3"/>
            <a:stretch>
              <a:fillRect l="0" t="0" r="0" b="0"/>
            </a:stretch>
          </a:blipFill>
        </p:spPr>
      </p:sp>
      <p:sp>
        <p:nvSpPr>
          <p:cNvPr name="TextBox 7" id="7"/>
          <p:cNvSpPr txBox="true"/>
          <p:nvPr/>
        </p:nvSpPr>
        <p:spPr>
          <a:xfrm rot="0">
            <a:off x="6701143" y="1327995"/>
            <a:ext cx="4885713" cy="912915"/>
          </a:xfrm>
          <a:prstGeom prst="rect">
            <a:avLst/>
          </a:prstGeom>
        </p:spPr>
        <p:txBody>
          <a:bodyPr anchor="t" rtlCol="false" tIns="0" lIns="0" bIns="0" rIns="0">
            <a:spAutoFit/>
          </a:bodyPr>
          <a:lstStyle/>
          <a:p>
            <a:pPr algn="l">
              <a:lnSpc>
                <a:spcPts val="7431"/>
              </a:lnSpc>
            </a:pPr>
            <a:r>
              <a:rPr lang="en-US" sz="5308">
                <a:solidFill>
                  <a:srgbClr val="004AAD"/>
                </a:solidFill>
                <a:latin typeface="League Spartan"/>
                <a:ea typeface="League Spartan"/>
                <a:cs typeface="League Spartan"/>
                <a:sym typeface="League Spartan"/>
              </a:rPr>
              <a:t>EVALUATION</a:t>
            </a:r>
          </a:p>
        </p:txBody>
      </p:sp>
      <p:sp>
        <p:nvSpPr>
          <p:cNvPr name="TextBox 8" id="8"/>
          <p:cNvSpPr txBox="true"/>
          <p:nvPr/>
        </p:nvSpPr>
        <p:spPr>
          <a:xfrm rot="0">
            <a:off x="1285792" y="2555936"/>
            <a:ext cx="15716415" cy="5659731"/>
          </a:xfrm>
          <a:prstGeom prst="rect">
            <a:avLst/>
          </a:prstGeom>
        </p:spPr>
        <p:txBody>
          <a:bodyPr anchor="t" rtlCol="false" tIns="0" lIns="0" bIns="0" rIns="0">
            <a:spAutoFit/>
          </a:bodyPr>
          <a:lstStyle/>
          <a:p>
            <a:pPr algn="just">
              <a:lnSpc>
                <a:spcPts val="4096"/>
              </a:lnSpc>
              <a:spcBef>
                <a:spcPct val="0"/>
              </a:spcBef>
            </a:pPr>
            <a:r>
              <a:rPr lang="en-US" sz="2925">
                <a:solidFill>
                  <a:srgbClr val="000000"/>
                </a:solidFill>
                <a:latin typeface="Poppins"/>
                <a:ea typeface="Poppins"/>
                <a:cs typeface="Poppins"/>
                <a:sym typeface="Poppins"/>
              </a:rPr>
              <a:t>The evaluation stage is conducted to assess the performance of the EfficientNetV2-M model in classifying rice leaf diseases and to ensure its generalization capability on unseen data. The evaluation uses the testing dataset, which is not involved in the training or validation process. Model performance is measured using accuracy, precision, recall, and F1-score to evaluate classification effectiveness and balance. In addition, a confusion matrix is used to analyze prediction errors based on true positive, true negative, false positive, and false negative values for each disease class. Further analysis is carried out by comparing training, validation, and testing results to identify potential overfitting. Finally, the model is tested within the mobile application to evaluate prediction latency, model size, and suitability for deployment on resource-limited devices.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6792707" cy="10287000"/>
            <a:chOff x="0" y="0"/>
            <a:chExt cx="1789026" cy="2709333"/>
          </a:xfrm>
        </p:grpSpPr>
        <p:sp>
          <p:nvSpPr>
            <p:cNvPr name="Freeform 4" id="4"/>
            <p:cNvSpPr/>
            <p:nvPr/>
          </p:nvSpPr>
          <p:spPr>
            <a:xfrm flipH="false" flipV="false" rot="0">
              <a:off x="0" y="0"/>
              <a:ext cx="1789026" cy="2709333"/>
            </a:xfrm>
            <a:custGeom>
              <a:avLst/>
              <a:gdLst/>
              <a:ahLst/>
              <a:cxnLst/>
              <a:rect r="r" b="b" t="t" l="l"/>
              <a:pathLst>
                <a:path h="2709333" w="1789026">
                  <a:moveTo>
                    <a:pt x="0" y="0"/>
                  </a:moveTo>
                  <a:lnTo>
                    <a:pt x="1789026" y="0"/>
                  </a:lnTo>
                  <a:lnTo>
                    <a:pt x="1789026" y="2709333"/>
                  </a:lnTo>
                  <a:lnTo>
                    <a:pt x="0" y="2709333"/>
                  </a:lnTo>
                  <a:close/>
                </a:path>
              </a:pathLst>
            </a:custGeom>
            <a:solidFill>
              <a:srgbClr val="004AAD"/>
            </a:solidFill>
          </p:spPr>
        </p:sp>
        <p:sp>
          <p:nvSpPr>
            <p:cNvPr name="TextBox 5" id="5"/>
            <p:cNvSpPr txBox="true"/>
            <p:nvPr/>
          </p:nvSpPr>
          <p:spPr>
            <a:xfrm>
              <a:off x="0" y="-47625"/>
              <a:ext cx="1789026" cy="275695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5446818" y="8630505"/>
            <a:ext cx="897167" cy="2183545"/>
            <a:chOff x="0" y="0"/>
            <a:chExt cx="236291" cy="575090"/>
          </a:xfrm>
        </p:grpSpPr>
        <p:sp>
          <p:nvSpPr>
            <p:cNvPr name="Freeform 7" id="7"/>
            <p:cNvSpPr/>
            <p:nvPr/>
          </p:nvSpPr>
          <p:spPr>
            <a:xfrm flipH="false" flipV="false" rot="0">
              <a:off x="0" y="0"/>
              <a:ext cx="236291" cy="575090"/>
            </a:xfrm>
            <a:custGeom>
              <a:avLst/>
              <a:gdLst/>
              <a:ahLst/>
              <a:cxnLst/>
              <a:rect r="r" b="b" t="t" l="l"/>
              <a:pathLst>
                <a:path h="575090" w="236291">
                  <a:moveTo>
                    <a:pt x="118145" y="0"/>
                  </a:moveTo>
                  <a:lnTo>
                    <a:pt x="118145" y="0"/>
                  </a:lnTo>
                  <a:cubicBezTo>
                    <a:pt x="183395" y="0"/>
                    <a:pt x="236291" y="52895"/>
                    <a:pt x="236291" y="118145"/>
                  </a:cubicBezTo>
                  <a:lnTo>
                    <a:pt x="236291" y="456945"/>
                  </a:lnTo>
                  <a:cubicBezTo>
                    <a:pt x="236291" y="488279"/>
                    <a:pt x="223843" y="518330"/>
                    <a:pt x="201687" y="540486"/>
                  </a:cubicBezTo>
                  <a:cubicBezTo>
                    <a:pt x="179530" y="562643"/>
                    <a:pt x="149480" y="575090"/>
                    <a:pt x="118145" y="575090"/>
                  </a:cubicBezTo>
                  <a:lnTo>
                    <a:pt x="118145" y="575090"/>
                  </a:lnTo>
                  <a:cubicBezTo>
                    <a:pt x="86811" y="575090"/>
                    <a:pt x="56761" y="562643"/>
                    <a:pt x="34604" y="540486"/>
                  </a:cubicBezTo>
                  <a:cubicBezTo>
                    <a:pt x="12447" y="518330"/>
                    <a:pt x="0" y="488279"/>
                    <a:pt x="0" y="456945"/>
                  </a:cubicBezTo>
                  <a:lnTo>
                    <a:pt x="0" y="118145"/>
                  </a:lnTo>
                  <a:cubicBezTo>
                    <a:pt x="0" y="86811"/>
                    <a:pt x="12447" y="56761"/>
                    <a:pt x="34604" y="34604"/>
                  </a:cubicBezTo>
                  <a:cubicBezTo>
                    <a:pt x="56761" y="12447"/>
                    <a:pt x="86811" y="0"/>
                    <a:pt x="118145" y="0"/>
                  </a:cubicBezTo>
                  <a:close/>
                </a:path>
              </a:pathLst>
            </a:custGeom>
            <a:solidFill>
              <a:srgbClr val="FFFFFF"/>
            </a:solidFill>
          </p:spPr>
        </p:sp>
        <p:sp>
          <p:nvSpPr>
            <p:cNvPr name="TextBox 8" id="8"/>
            <p:cNvSpPr txBox="true"/>
            <p:nvPr/>
          </p:nvSpPr>
          <p:spPr>
            <a:xfrm>
              <a:off x="0" y="-47625"/>
              <a:ext cx="236291" cy="62271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7571443" y="1399250"/>
            <a:ext cx="10057058" cy="8064500"/>
          </a:xfrm>
          <a:prstGeom prst="rect">
            <a:avLst/>
          </a:prstGeom>
        </p:spPr>
        <p:txBody>
          <a:bodyPr anchor="t" rtlCol="false" tIns="0" lIns="0" bIns="0" rIns="0">
            <a:spAutoFit/>
          </a:bodyPr>
          <a:lstStyle/>
          <a:p>
            <a:pPr algn="just">
              <a:lnSpc>
                <a:spcPts val="4900"/>
              </a:lnSpc>
              <a:spcBef>
                <a:spcPct val="0"/>
              </a:spcBef>
            </a:pPr>
            <a:r>
              <a:rPr lang="en-US" sz="3500">
                <a:solidFill>
                  <a:srgbClr val="000000"/>
                </a:solidFill>
                <a:latin typeface="Poppins"/>
                <a:ea typeface="Poppins"/>
                <a:cs typeface="Poppins"/>
                <a:sym typeface="Poppins"/>
              </a:rPr>
              <a:t>The trained EfficientNetV2-M model is converted into TensorFlow Lite (TFLite) format to ensure lightweight and efficient execution on mobile devices and is then integrated into a Flutter-based mobile application. The application allows users to capture or select rice leaf images, perform offline predictions, and display classification results along with disease treatment recommendations stored in a local JSON file. Implementation testing is conducted to ensure model stability, fast prediction time, and overall usability in field conditions.</a:t>
            </a:r>
          </a:p>
        </p:txBody>
      </p:sp>
      <p:sp>
        <p:nvSpPr>
          <p:cNvPr name="Freeform 10" id="10"/>
          <p:cNvSpPr/>
          <p:nvPr/>
        </p:nvSpPr>
        <p:spPr>
          <a:xfrm flipH="false" flipV="false" rot="0">
            <a:off x="12989065" y="194642"/>
            <a:ext cx="4879662" cy="881683"/>
          </a:xfrm>
          <a:custGeom>
            <a:avLst/>
            <a:gdLst/>
            <a:ahLst/>
            <a:cxnLst/>
            <a:rect r="r" b="b" t="t" l="l"/>
            <a:pathLst>
              <a:path h="881683" w="4879662">
                <a:moveTo>
                  <a:pt x="0" y="0"/>
                </a:moveTo>
                <a:lnTo>
                  <a:pt x="4879662" y="0"/>
                </a:lnTo>
                <a:lnTo>
                  <a:pt x="4879662" y="881683"/>
                </a:lnTo>
                <a:lnTo>
                  <a:pt x="0" y="881683"/>
                </a:lnTo>
                <a:lnTo>
                  <a:pt x="0" y="0"/>
                </a:lnTo>
                <a:close/>
              </a:path>
            </a:pathLst>
          </a:custGeom>
          <a:blipFill>
            <a:blip r:embed="rId3"/>
            <a:stretch>
              <a:fillRect l="0" t="0" r="0" b="0"/>
            </a:stretch>
          </a:blipFill>
        </p:spPr>
      </p:sp>
      <p:sp>
        <p:nvSpPr>
          <p:cNvPr name="TextBox 11" id="11"/>
          <p:cNvSpPr txBox="true"/>
          <p:nvPr/>
        </p:nvSpPr>
        <p:spPr>
          <a:xfrm rot="0">
            <a:off x="709411" y="3860407"/>
            <a:ext cx="5634574" cy="1623480"/>
          </a:xfrm>
          <a:prstGeom prst="rect">
            <a:avLst/>
          </a:prstGeom>
        </p:spPr>
        <p:txBody>
          <a:bodyPr anchor="t" rtlCol="false" tIns="0" lIns="0" bIns="0" rIns="0">
            <a:spAutoFit/>
          </a:bodyPr>
          <a:lstStyle/>
          <a:p>
            <a:pPr algn="l">
              <a:lnSpc>
                <a:spcPts val="6591"/>
              </a:lnSpc>
            </a:pPr>
            <a:r>
              <a:rPr lang="en-US" sz="4708">
                <a:solidFill>
                  <a:srgbClr val="FFFFFF"/>
                </a:solidFill>
                <a:latin typeface="League Spartan"/>
                <a:ea typeface="League Spartan"/>
                <a:cs typeface="League Spartan"/>
                <a:sym typeface="League Spartan"/>
              </a:rPr>
              <a:t>MODEL DEPLOYMENT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4681950" y="63834"/>
            <a:ext cx="8421405" cy="1265381"/>
          </a:xfrm>
          <a:prstGeom prst="rect">
            <a:avLst/>
          </a:prstGeom>
        </p:spPr>
        <p:txBody>
          <a:bodyPr anchor="t" rtlCol="false" tIns="0" lIns="0" bIns="0" rIns="0">
            <a:spAutoFit/>
          </a:bodyPr>
          <a:lstStyle/>
          <a:p>
            <a:pPr algn="ctr">
              <a:lnSpc>
                <a:spcPts val="10334"/>
              </a:lnSpc>
            </a:pPr>
            <a:r>
              <a:rPr lang="en-US" b="true" sz="7382">
                <a:solidFill>
                  <a:srgbClr val="004AAD"/>
                </a:solidFill>
                <a:latin typeface="League Spartan"/>
                <a:ea typeface="League Spartan"/>
                <a:cs typeface="League Spartan"/>
                <a:sym typeface="League Spartan"/>
              </a:rPr>
              <a:t>CONCLUSION</a:t>
            </a:r>
          </a:p>
        </p:txBody>
      </p:sp>
      <p:sp>
        <p:nvSpPr>
          <p:cNvPr name="TextBox 4" id="4"/>
          <p:cNvSpPr txBox="true"/>
          <p:nvPr/>
        </p:nvSpPr>
        <p:spPr>
          <a:xfrm rot="0">
            <a:off x="2121055" y="2226378"/>
            <a:ext cx="13543194" cy="5773405"/>
          </a:xfrm>
          <a:prstGeom prst="rect">
            <a:avLst/>
          </a:prstGeom>
        </p:spPr>
        <p:txBody>
          <a:bodyPr anchor="t" rtlCol="false" tIns="0" lIns="0" bIns="0" rIns="0">
            <a:spAutoFit/>
          </a:bodyPr>
          <a:lstStyle/>
          <a:p>
            <a:pPr algn="just">
              <a:lnSpc>
                <a:spcPts val="4130"/>
              </a:lnSpc>
              <a:spcBef>
                <a:spcPct val="0"/>
              </a:spcBef>
            </a:pPr>
            <a:r>
              <a:rPr lang="en-US" sz="2950">
                <a:solidFill>
                  <a:srgbClr val="000000"/>
                </a:solidFill>
                <a:latin typeface="Poppins"/>
                <a:ea typeface="Poppins"/>
                <a:cs typeface="Poppins"/>
                <a:sym typeface="Poppins"/>
              </a:rPr>
              <a:t>A Flutter-based mobile application for rice leaf disease classification was successfully developed using the EfficientNetV2-M model with the CRISP-DM methodology approach. The system was able to classify six rice leaf conditions with excellent performance, demonstrated by a test accuracy of 94.67% and balanced evaluation metrics. The application of transfer learning, data augmentation, and early stopping played a significant role in improving model generalization. The model, converted to TensorFlow Lite format, can be run offline on mobile devices and integrated with local JSON-based disease treatment recommendations, so the application not only performs classification but also provides useful treatment information for users.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4804658" y="1551655"/>
            <a:ext cx="8421405" cy="1265381"/>
          </a:xfrm>
          <a:prstGeom prst="rect">
            <a:avLst/>
          </a:prstGeom>
        </p:spPr>
        <p:txBody>
          <a:bodyPr anchor="t" rtlCol="false" tIns="0" lIns="0" bIns="0" rIns="0">
            <a:spAutoFit/>
          </a:bodyPr>
          <a:lstStyle/>
          <a:p>
            <a:pPr algn="ctr">
              <a:lnSpc>
                <a:spcPts val="10334"/>
              </a:lnSpc>
            </a:pPr>
            <a:r>
              <a:rPr lang="en-US" b="true" sz="7382">
                <a:solidFill>
                  <a:srgbClr val="004AAD"/>
                </a:solidFill>
                <a:latin typeface="League Spartan"/>
                <a:ea typeface="League Spartan"/>
                <a:cs typeface="League Spartan"/>
                <a:sym typeface="League Spartan"/>
              </a:rPr>
              <a:t>SUGGESTION</a:t>
            </a:r>
          </a:p>
        </p:txBody>
      </p:sp>
      <p:sp>
        <p:nvSpPr>
          <p:cNvPr name="TextBox 4" id="4"/>
          <p:cNvSpPr txBox="true"/>
          <p:nvPr/>
        </p:nvSpPr>
        <p:spPr>
          <a:xfrm rot="0">
            <a:off x="2714145" y="3523623"/>
            <a:ext cx="13543194" cy="3154030"/>
          </a:xfrm>
          <a:prstGeom prst="rect">
            <a:avLst/>
          </a:prstGeom>
        </p:spPr>
        <p:txBody>
          <a:bodyPr anchor="t" rtlCol="false" tIns="0" lIns="0" bIns="0" rIns="0">
            <a:spAutoFit/>
          </a:bodyPr>
          <a:lstStyle/>
          <a:p>
            <a:pPr algn="l" marL="637034" indent="-318517" lvl="1">
              <a:lnSpc>
                <a:spcPts val="4130"/>
              </a:lnSpc>
              <a:buFont typeface="Arial"/>
              <a:buChar char="•"/>
            </a:pPr>
            <a:r>
              <a:rPr lang="en-US" sz="2950">
                <a:solidFill>
                  <a:srgbClr val="000000"/>
                </a:solidFill>
                <a:latin typeface="Poppins"/>
                <a:ea typeface="Poppins"/>
                <a:cs typeface="Poppins"/>
                <a:sym typeface="Poppins"/>
              </a:rPr>
              <a:t>Adding more diverse field data to improve model generalization and accuracy in real-world situations.</a:t>
            </a:r>
          </a:p>
          <a:p>
            <a:pPr algn="l" marL="637034" indent="-318517" lvl="1">
              <a:lnSpc>
                <a:spcPts val="4130"/>
              </a:lnSpc>
              <a:buFont typeface="Arial"/>
              <a:buChar char="•"/>
            </a:pPr>
            <a:r>
              <a:rPr lang="en-US" sz="2950">
                <a:solidFill>
                  <a:srgbClr val="000000"/>
                </a:solidFill>
                <a:latin typeface="Poppins"/>
                <a:ea typeface="Poppins"/>
                <a:cs typeface="Poppins"/>
                <a:sym typeface="Poppins"/>
              </a:rPr>
              <a:t>Developing disease severity detection to provide more specific and precise treatment recommendations.</a:t>
            </a:r>
          </a:p>
          <a:p>
            <a:pPr algn="l" marL="637034" indent="-318517" lvl="1">
              <a:lnSpc>
                <a:spcPts val="4130"/>
              </a:lnSpc>
              <a:buFont typeface="Arial"/>
              <a:buChar char="•"/>
            </a:pPr>
            <a:r>
              <a:rPr lang="en-US" sz="2950">
                <a:solidFill>
                  <a:srgbClr val="000000"/>
                </a:solidFill>
                <a:latin typeface="Poppins"/>
                <a:ea typeface="Poppins"/>
                <a:cs typeface="Poppins"/>
                <a:sym typeface="Poppins"/>
              </a:rPr>
              <a:t>Cloud integration for model and data updates, detection result storage, and centralized analysis to support application scalability.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949848" y="4045809"/>
            <a:ext cx="5245100" cy="1332778"/>
            <a:chOff x="0" y="0"/>
            <a:chExt cx="1381426" cy="351020"/>
          </a:xfrm>
        </p:grpSpPr>
        <p:sp>
          <p:nvSpPr>
            <p:cNvPr name="Freeform 4" id="4"/>
            <p:cNvSpPr/>
            <p:nvPr/>
          </p:nvSpPr>
          <p:spPr>
            <a:xfrm flipH="false" flipV="false" rot="0">
              <a:off x="0" y="0"/>
              <a:ext cx="1381426" cy="351020"/>
            </a:xfrm>
            <a:custGeom>
              <a:avLst/>
              <a:gdLst/>
              <a:ahLst/>
              <a:cxnLst/>
              <a:rect r="r" b="b" t="t" l="l"/>
              <a:pathLst>
                <a:path h="351020" w="1381426">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sp>
        <p:sp>
          <p:nvSpPr>
            <p:cNvPr name="TextBox 5" id="5"/>
            <p:cNvSpPr txBox="true"/>
            <p:nvPr/>
          </p:nvSpPr>
          <p:spPr>
            <a:xfrm>
              <a:off x="0" y="-47625"/>
              <a:ext cx="1381426" cy="39864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3490052" y="4045809"/>
            <a:ext cx="5118100" cy="1332778"/>
            <a:chOff x="0" y="0"/>
            <a:chExt cx="1347977" cy="351020"/>
          </a:xfrm>
        </p:grpSpPr>
        <p:sp>
          <p:nvSpPr>
            <p:cNvPr name="Freeform 7" id="7"/>
            <p:cNvSpPr/>
            <p:nvPr/>
          </p:nvSpPr>
          <p:spPr>
            <a:xfrm flipH="false" flipV="false" rot="0">
              <a:off x="0" y="0"/>
              <a:ext cx="1347977" cy="351020"/>
            </a:xfrm>
            <a:custGeom>
              <a:avLst/>
              <a:gdLst/>
              <a:ahLst/>
              <a:cxnLst/>
              <a:rect r="r" b="b" t="t" l="l"/>
              <a:pathLst>
                <a:path h="351020" w="1347977">
                  <a:moveTo>
                    <a:pt x="77145" y="0"/>
                  </a:moveTo>
                  <a:lnTo>
                    <a:pt x="1270832" y="0"/>
                  </a:lnTo>
                  <a:cubicBezTo>
                    <a:pt x="1291292" y="0"/>
                    <a:pt x="1310914" y="8128"/>
                    <a:pt x="1325382" y="22595"/>
                  </a:cubicBezTo>
                  <a:cubicBezTo>
                    <a:pt x="1339849" y="37063"/>
                    <a:pt x="1347977" y="56685"/>
                    <a:pt x="1347977" y="77145"/>
                  </a:cubicBezTo>
                  <a:lnTo>
                    <a:pt x="1347977" y="273874"/>
                  </a:lnTo>
                  <a:cubicBezTo>
                    <a:pt x="1347977" y="316480"/>
                    <a:pt x="1313438" y="351020"/>
                    <a:pt x="1270832" y="351020"/>
                  </a:cubicBezTo>
                  <a:lnTo>
                    <a:pt x="77145" y="351020"/>
                  </a:lnTo>
                  <a:cubicBezTo>
                    <a:pt x="34539" y="351020"/>
                    <a:pt x="0" y="316480"/>
                    <a:pt x="0" y="273874"/>
                  </a:cubicBezTo>
                  <a:lnTo>
                    <a:pt x="0" y="77145"/>
                  </a:lnTo>
                  <a:cubicBezTo>
                    <a:pt x="0" y="34539"/>
                    <a:pt x="34539" y="0"/>
                    <a:pt x="77145" y="0"/>
                  </a:cubicBezTo>
                  <a:close/>
                </a:path>
              </a:pathLst>
            </a:custGeom>
            <a:solidFill>
              <a:srgbClr val="004AAD"/>
            </a:solidFill>
          </p:spPr>
        </p:sp>
        <p:sp>
          <p:nvSpPr>
            <p:cNvPr name="TextBox 8" id="8"/>
            <p:cNvSpPr txBox="true"/>
            <p:nvPr/>
          </p:nvSpPr>
          <p:spPr>
            <a:xfrm>
              <a:off x="0" y="-47625"/>
              <a:ext cx="1347977" cy="39864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4681950" y="4113206"/>
            <a:ext cx="8421405" cy="1265381"/>
          </a:xfrm>
          <a:prstGeom prst="rect">
            <a:avLst/>
          </a:prstGeom>
        </p:spPr>
        <p:txBody>
          <a:bodyPr anchor="t" rtlCol="false" tIns="0" lIns="0" bIns="0" rIns="0">
            <a:spAutoFit/>
          </a:bodyPr>
          <a:lstStyle/>
          <a:p>
            <a:pPr algn="ctr">
              <a:lnSpc>
                <a:spcPts val="10334"/>
              </a:lnSpc>
            </a:pPr>
            <a:r>
              <a:rPr lang="en-US" b="true" sz="7382">
                <a:solidFill>
                  <a:srgbClr val="004AAD"/>
                </a:solidFill>
                <a:latin typeface="League Spartan"/>
                <a:ea typeface="League Spartan"/>
                <a:cs typeface="League Spartan"/>
                <a:sym typeface="League Spartan"/>
              </a:rPr>
              <a:t>DEMO</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635000" y="4477111"/>
            <a:ext cx="5245100" cy="1332778"/>
            <a:chOff x="0" y="0"/>
            <a:chExt cx="1381426" cy="351020"/>
          </a:xfrm>
        </p:grpSpPr>
        <p:sp>
          <p:nvSpPr>
            <p:cNvPr name="Freeform 4" id="4"/>
            <p:cNvSpPr/>
            <p:nvPr/>
          </p:nvSpPr>
          <p:spPr>
            <a:xfrm flipH="false" flipV="false" rot="0">
              <a:off x="0" y="0"/>
              <a:ext cx="1381426" cy="351020"/>
            </a:xfrm>
            <a:custGeom>
              <a:avLst/>
              <a:gdLst/>
              <a:ahLst/>
              <a:cxnLst/>
              <a:rect r="r" b="b" t="t" l="l"/>
              <a:pathLst>
                <a:path h="351020" w="1381426">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sp>
        <p:sp>
          <p:nvSpPr>
            <p:cNvPr name="TextBox 5" id="5"/>
            <p:cNvSpPr txBox="true"/>
            <p:nvPr/>
          </p:nvSpPr>
          <p:spPr>
            <a:xfrm>
              <a:off x="0" y="-47625"/>
              <a:ext cx="1381426" cy="39864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3804900" y="4477111"/>
            <a:ext cx="5118100" cy="1332778"/>
            <a:chOff x="0" y="0"/>
            <a:chExt cx="1347977" cy="351020"/>
          </a:xfrm>
        </p:grpSpPr>
        <p:sp>
          <p:nvSpPr>
            <p:cNvPr name="Freeform 7" id="7"/>
            <p:cNvSpPr/>
            <p:nvPr/>
          </p:nvSpPr>
          <p:spPr>
            <a:xfrm flipH="false" flipV="false" rot="0">
              <a:off x="0" y="0"/>
              <a:ext cx="1347977" cy="351020"/>
            </a:xfrm>
            <a:custGeom>
              <a:avLst/>
              <a:gdLst/>
              <a:ahLst/>
              <a:cxnLst/>
              <a:rect r="r" b="b" t="t" l="l"/>
              <a:pathLst>
                <a:path h="351020" w="1347977">
                  <a:moveTo>
                    <a:pt x="77145" y="0"/>
                  </a:moveTo>
                  <a:lnTo>
                    <a:pt x="1270832" y="0"/>
                  </a:lnTo>
                  <a:cubicBezTo>
                    <a:pt x="1291292" y="0"/>
                    <a:pt x="1310914" y="8128"/>
                    <a:pt x="1325382" y="22595"/>
                  </a:cubicBezTo>
                  <a:cubicBezTo>
                    <a:pt x="1339849" y="37063"/>
                    <a:pt x="1347977" y="56685"/>
                    <a:pt x="1347977" y="77145"/>
                  </a:cubicBezTo>
                  <a:lnTo>
                    <a:pt x="1347977" y="273874"/>
                  </a:lnTo>
                  <a:cubicBezTo>
                    <a:pt x="1347977" y="316480"/>
                    <a:pt x="1313438" y="351020"/>
                    <a:pt x="1270832" y="351020"/>
                  </a:cubicBezTo>
                  <a:lnTo>
                    <a:pt x="77145" y="351020"/>
                  </a:lnTo>
                  <a:cubicBezTo>
                    <a:pt x="34539" y="351020"/>
                    <a:pt x="0" y="316480"/>
                    <a:pt x="0" y="273874"/>
                  </a:cubicBezTo>
                  <a:lnTo>
                    <a:pt x="0" y="77145"/>
                  </a:lnTo>
                  <a:cubicBezTo>
                    <a:pt x="0" y="34539"/>
                    <a:pt x="34539" y="0"/>
                    <a:pt x="77145" y="0"/>
                  </a:cubicBezTo>
                  <a:close/>
                </a:path>
              </a:pathLst>
            </a:custGeom>
            <a:solidFill>
              <a:srgbClr val="004AAD"/>
            </a:solidFill>
          </p:spPr>
        </p:sp>
        <p:sp>
          <p:nvSpPr>
            <p:cNvPr name="TextBox 8" id="8"/>
            <p:cNvSpPr txBox="true"/>
            <p:nvPr/>
          </p:nvSpPr>
          <p:spPr>
            <a:xfrm>
              <a:off x="0" y="-47625"/>
              <a:ext cx="1347977" cy="39864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4996797" y="4544508"/>
            <a:ext cx="8421405" cy="1265381"/>
          </a:xfrm>
          <a:prstGeom prst="rect">
            <a:avLst/>
          </a:prstGeom>
        </p:spPr>
        <p:txBody>
          <a:bodyPr anchor="t" rtlCol="false" tIns="0" lIns="0" bIns="0" rIns="0">
            <a:spAutoFit/>
          </a:bodyPr>
          <a:lstStyle/>
          <a:p>
            <a:pPr algn="ctr">
              <a:lnSpc>
                <a:spcPts val="10334"/>
              </a:lnSpc>
            </a:pPr>
            <a:r>
              <a:rPr lang="en-US" b="true" sz="7382">
                <a:solidFill>
                  <a:srgbClr val="004AAD"/>
                </a:solidFill>
                <a:latin typeface="League Spartan"/>
                <a:ea typeface="League Spartan"/>
                <a:cs typeface="League Spartan"/>
                <a:sym typeface="League Spart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DAG5wV7tNi8</dc:identifier>
  <dcterms:modified xsi:type="dcterms:W3CDTF">2011-08-01T06:04:30Z</dcterms:modified>
  <cp:revision>1</cp:revision>
  <dc:title>Blue &amp; white company profile presentation</dc:title>
</cp:coreProperties>
</file>